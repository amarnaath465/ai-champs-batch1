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L1 · Foundation (Engr II)</c:v>
                </c:pt>
              </c:strCache>
            </c:strRef>
          </c:tx>
          <c:spPr>
            <a:solidFill>
              <a:srgbClr val="DADBF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</c:v>
                  </c:pt>
                  <c:pt idx="1">
                    <c:v>IA</c:v>
                  </c:pt>
                  <c:pt idx="2">
                    <c:v>BA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L2 · Practitioner (Advanced / Sr. Advanced)</c:v>
                </c:pt>
              </c:strCache>
            </c:strRef>
          </c:tx>
          <c:spPr>
            <a:solidFill>
              <a:srgbClr val="5B5F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</c:v>
                  </c:pt>
                  <c:pt idx="1">
                    <c:v>IA</c:v>
                  </c:pt>
                  <c:pt idx="2">
                    <c:v>BA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L3 · Senior / Architect / Lead / Manager</c:v>
                </c:pt>
              </c:strCache>
            </c:strRef>
          </c:tx>
          <c:spPr>
            <a:solidFill>
              <a:srgbClr val="0B3D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</c:v>
                  </c:pt>
                  <c:pt idx="1">
                    <c:v>IA</c:v>
                  </c:pt>
                  <c:pt idx="2">
                    <c:v>BA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1</c:v>
                </c:pt>
                <c:pt idx="2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7252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72525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Cohort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15719"/>
              </a:solidFill>
              <a:effectLst/>
            </c:spPr>
          </c:dPt>
          <c:dPt>
            <c:idx val="1"/>
            <c:bubble3D val="0"/>
            <c:spPr>
              <a:solidFill>
                <a:srgbClr val="DADBF1"/>
              </a:solidFill>
              <a:effectLst/>
            </c:spPr>
          </c:dPt>
          <c:dLbls>
            <c:dLbl>
              <c:idx val="0"/>
              <c:numFmt formatCode="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0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Designated AI Champion</c:v>
                </c:pt>
                <c:pt idx="1">
                  <c:v>General Participant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</c:v>
                </c:pt>
                <c:pt idx="1">
                  <c:v>19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5" Type="http://schemas.openxmlformats.org/officeDocument/2006/relationships/chart" Target="/ppt/charts/chart2.xml"/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6" Type="http://schemas.openxmlformats.org/officeDocument/2006/relationships/image" Target="../media/image-5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4.png"/><Relationship Id="rId6" Type="http://schemas.openxmlformats.org/officeDocument/2006/relationships/image" Target="../media/image-13-4.png"/><Relationship Id="rId7" Type="http://schemas.openxmlformats.org/officeDocument/2006/relationships/image" Target="../media/image-13-4.png"/><Relationship Id="rId8" Type="http://schemas.openxmlformats.org/officeDocument/2006/relationships/image" Target="../media/image-13-4.png"/><Relationship Id="rId9" Type="http://schemas.openxmlformats.org/officeDocument/2006/relationships/image" Target="../media/image-13-4.png"/><Relationship Id="rId10" Type="http://schemas.openxmlformats.org/officeDocument/2006/relationships/image" Target="../media/image-13-4.png"/><Relationship Id="rId11" Type="http://schemas.openxmlformats.org/officeDocument/2006/relationships/image" Target="../media/image-13-4.png"/><Relationship Id="rId12" Type="http://schemas.openxmlformats.org/officeDocument/2006/relationships/image" Target="../media/image-1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Image 1" descr="/home/claude/work/staroute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0" y="201168"/>
            <a:ext cx="2514600" cy="50109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1417320"/>
            <a:ext cx="1188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8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HONEYWELL EMBEDDED ENGINEERING TEAMS  —  PA · IA · BA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548640" y="1965960"/>
            <a:ext cx="1325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Champions Programme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548640" y="2606040"/>
            <a:ext cx="1325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Module 01</a:t>
            </a:r>
            <a:endParaRPr lang="en-US" sz="5400" dirty="0"/>
          </a:p>
        </p:txBody>
      </p:sp>
      <p:sp>
        <p:nvSpPr>
          <p:cNvPr id="7" name="Text 3"/>
          <p:cNvSpPr/>
          <p:nvPr/>
        </p:nvSpPr>
        <p:spPr>
          <a:xfrm>
            <a:off x="548640" y="3520440"/>
            <a:ext cx="1353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Champions Kick-off &amp; Embedded Engineering</a:t>
            </a:r>
            <a:endParaRPr lang="en-US" sz="3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Enterprise Context</a:t>
            </a:r>
            <a:endParaRPr lang="en-US" sz="3400" dirty="0"/>
          </a:p>
        </p:txBody>
      </p:sp>
      <p:sp>
        <p:nvSpPr>
          <p:cNvPr id="8" name="Text 4"/>
          <p:cNvSpPr/>
          <p:nvPr/>
        </p:nvSpPr>
        <p:spPr>
          <a:xfrm>
            <a:off x="548640" y="50292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E7ECF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Establishing the enterprise mandate, the AI Champion role, and the embedded engineering baseline — before GitHub Copilot, Spec-Driven Development, and Agent Prism enter the picture.</a:t>
            </a:r>
            <a:endParaRPr lang="en-US" sz="1550" dirty="0"/>
          </a:p>
        </p:txBody>
      </p:sp>
      <p:sp>
        <p:nvSpPr>
          <p:cNvPr id="9" name="Shape 5"/>
          <p:cNvSpPr/>
          <p:nvPr/>
        </p:nvSpPr>
        <p:spPr>
          <a:xfrm>
            <a:off x="548640" y="6080760"/>
            <a:ext cx="457200" cy="457200"/>
          </a:xfrm>
          <a:prstGeom prst="ellipse">
            <a:avLst/>
          </a:prstGeom>
          <a:solidFill>
            <a:srgbClr val="FFFFFF">
              <a:alpha val="22000"/>
            </a:srgbClr>
          </a:solidFill>
          <a:ln w="15875">
            <a:solidFill>
              <a:srgbClr val="FFFFFF"/>
            </a:solidFill>
            <a:prstDash val="solid"/>
          </a:ln>
        </p:spPr>
      </p:sp>
      <p:pic>
        <p:nvPicPr>
          <p:cNvPr id="10" name="Image 2" descr="/home/claude/work/icons/timer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19048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3000" y="60624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D6F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DURATION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1143000" y="63367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2 Hours · Module 1 of 11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4709160" y="6080760"/>
            <a:ext cx="457200" cy="457200"/>
          </a:xfrm>
          <a:prstGeom prst="ellipse">
            <a:avLst/>
          </a:prstGeom>
          <a:solidFill>
            <a:srgbClr val="FFFFFF">
              <a:alpha val="22000"/>
            </a:srgbClr>
          </a:solidFill>
          <a:ln w="15875">
            <a:solidFill>
              <a:srgbClr val="FFFFFF"/>
            </a:solidFill>
            <a:prstDash val="solid"/>
          </a:ln>
        </p:spPr>
      </p:sp>
      <p:pic>
        <p:nvPicPr>
          <p:cNvPr id="14" name="Image 3" descr="/home/claude/work/icons/user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619048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303520" y="60624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D6F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FORMAT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5303520" y="63367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Workshop + Facilitated Discussion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8869680" y="6080760"/>
            <a:ext cx="457200" cy="457200"/>
          </a:xfrm>
          <a:prstGeom prst="ellipse">
            <a:avLst/>
          </a:prstGeom>
          <a:solidFill>
            <a:srgbClr val="FFFFFF">
              <a:alpha val="22000"/>
            </a:srgbClr>
          </a:solidFill>
          <a:ln w="15875">
            <a:solidFill>
              <a:srgbClr val="FFFFFF"/>
            </a:solidFill>
            <a:prstDash val="solid"/>
          </a:ln>
        </p:spPr>
      </p:sp>
      <p:pic>
        <p:nvPicPr>
          <p:cNvPr id="18" name="Image 4" descr="/home/claude/work/icons/building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08" y="6190488"/>
            <a:ext cx="237744" cy="23774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464040" y="60624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D6F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DELIVERED FOR</a:t>
            </a:r>
            <a:endParaRPr lang="en-US" sz="1050" dirty="0"/>
          </a:p>
        </p:txBody>
      </p:sp>
      <p:sp>
        <p:nvSpPr>
          <p:cNvPr id="20" name="Text 13"/>
          <p:cNvSpPr/>
          <p:nvPr/>
        </p:nvSpPr>
        <p:spPr>
          <a:xfrm>
            <a:off x="9464040" y="63367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Honeywell Embedded Engineering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548640" y="7178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F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NIIT StackRoute × RPS Programme Design  |  Stalwart Learning Delivery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Image 1" descr="/home/claude/work/staroute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0" y="201168"/>
            <a:ext cx="2514600" cy="501091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896112"/>
            <a:ext cx="14630400" cy="646480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548640" y="25603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CHAMPIONS PROGRAMME  |  MODULE 01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548640" y="1060704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How We'll Spend These Two Hours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548640" y="1700784"/>
            <a:ext cx="1353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Six connected moves — from enterprise framing to a workshop output the whole programme builds on.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6035040" y="7699248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HONEYWELL EMBEDDED ENGINEERING • AI CHAMPIONS PROGRAMME — MODULE 01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13121640" y="7452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02 / 14</a:t>
            </a:r>
            <a:endParaRPr lang="en-US" sz="1050" dirty="0"/>
          </a:p>
        </p:txBody>
      </p:sp>
      <p:pic>
        <p:nvPicPr>
          <p:cNvPr id="10" name="Image 2" descr="/home/claude/work/niit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0280" y="7479792"/>
            <a:ext cx="603504" cy="349301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48640" y="2194560"/>
            <a:ext cx="42672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04672" y="2450592"/>
            <a:ext cx="566928" cy="566928"/>
          </a:xfrm>
          <a:prstGeom prst="ellipse">
            <a:avLst/>
          </a:prstGeom>
          <a:solidFill>
            <a:srgbClr val="0B3D7A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13" name="Image 3" descr="/home/claude/work/icons/flag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735" y="2586655"/>
            <a:ext cx="294803" cy="29480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038600" y="237744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B5FA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01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804672" y="3127248"/>
            <a:ext cx="3755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Kick-off &amp; Why AI Champions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804672" y="361188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DADBF1"/>
          </a:solidFill>
          <a:ln/>
        </p:spPr>
      </p:sp>
      <p:sp>
        <p:nvSpPr>
          <p:cNvPr id="17" name="Text 11"/>
          <p:cNvSpPr/>
          <p:nvPr/>
        </p:nvSpPr>
        <p:spPr>
          <a:xfrm>
            <a:off x="804672" y="361188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5FA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15 min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804672" y="4005072"/>
            <a:ext cx="3755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Why Honeywell-style embedded teams need a champion model, not ad hoc experimentation.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5181600" y="2194560"/>
            <a:ext cx="42672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437632" y="2450592"/>
            <a:ext cx="566928" cy="566928"/>
          </a:xfrm>
          <a:prstGeom prst="ellipse">
            <a:avLst/>
          </a:prstGeom>
          <a:solidFill>
            <a:srgbClr val="0B3D7A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21" name="Image 4" descr="/home/claude/work/icons/radar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3695" y="2586655"/>
            <a:ext cx="294803" cy="29480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671560" y="237744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B5FA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02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5437632" y="3127248"/>
            <a:ext cx="3755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Pain-Point Workshop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5437632" y="361188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DADBF1"/>
          </a:solidFill>
          <a:ln/>
        </p:spPr>
      </p:sp>
      <p:sp>
        <p:nvSpPr>
          <p:cNvPr id="25" name="Text 18"/>
          <p:cNvSpPr/>
          <p:nvPr/>
        </p:nvSpPr>
        <p:spPr>
          <a:xfrm>
            <a:off x="5437632" y="361188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5FA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25 min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5437632" y="4005072"/>
            <a:ext cx="3755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Surface today's real delivery pain across PA, IA &amp; BA embedded/firmware work.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9814560" y="2194560"/>
            <a:ext cx="42672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10070592" y="2450592"/>
            <a:ext cx="566928" cy="566928"/>
          </a:xfrm>
          <a:prstGeom prst="ellipse">
            <a:avLst/>
          </a:prstGeom>
          <a:solidFill>
            <a:srgbClr val="0B3D7A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29" name="Image 5" descr="/home/claude/work/icons/users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6655" y="2586655"/>
            <a:ext cx="294803" cy="294803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3304520" y="237744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B5FA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03</a:t>
            </a:r>
            <a:endParaRPr lang="en-US" sz="1800" dirty="0"/>
          </a:p>
        </p:txBody>
      </p:sp>
      <p:sp>
        <p:nvSpPr>
          <p:cNvPr id="31" name="Text 23"/>
          <p:cNvSpPr/>
          <p:nvPr/>
        </p:nvSpPr>
        <p:spPr>
          <a:xfrm>
            <a:off x="10070592" y="3127248"/>
            <a:ext cx="3755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Champion Role &amp; Expectations</a:t>
            </a:r>
            <a:endParaRPr lang="en-US" sz="1500" dirty="0"/>
          </a:p>
        </p:txBody>
      </p:sp>
      <p:sp>
        <p:nvSpPr>
          <p:cNvPr id="32" name="Shape 24"/>
          <p:cNvSpPr/>
          <p:nvPr/>
        </p:nvSpPr>
        <p:spPr>
          <a:xfrm>
            <a:off x="10070592" y="361188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DADBF1"/>
          </a:solidFill>
          <a:ln/>
        </p:spPr>
      </p:sp>
      <p:sp>
        <p:nvSpPr>
          <p:cNvPr id="33" name="Text 25"/>
          <p:cNvSpPr/>
          <p:nvPr/>
        </p:nvSpPr>
        <p:spPr>
          <a:xfrm>
            <a:off x="10070592" y="361188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5FA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20 min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0070592" y="4005072"/>
            <a:ext cx="3755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Champion / Evangelist / Sponsor personas mapped to Architects, Devs, Testers, DevOps, SRE, Leads.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548640" y="4846320"/>
            <a:ext cx="42672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804672" y="5102352"/>
            <a:ext cx="566928" cy="566928"/>
          </a:xfrm>
          <a:prstGeom prst="ellipse">
            <a:avLst/>
          </a:prstGeom>
          <a:solidFill>
            <a:srgbClr val="0B3D7A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37" name="Image 6" descr="/home/claude/work/icons/shieldalert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0735" y="5238415"/>
            <a:ext cx="294803" cy="294803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4038600" y="50292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B5FA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04</a:t>
            </a:r>
            <a:endParaRPr lang="en-US" sz="1800" dirty="0"/>
          </a:p>
        </p:txBody>
      </p:sp>
      <p:sp>
        <p:nvSpPr>
          <p:cNvPr id="39" name="Text 30"/>
          <p:cNvSpPr/>
          <p:nvPr/>
        </p:nvSpPr>
        <p:spPr>
          <a:xfrm>
            <a:off x="804672" y="5779008"/>
            <a:ext cx="3755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Risks of Unmanaged AI Usage</a:t>
            </a:r>
            <a:endParaRPr lang="en-US" sz="1500" dirty="0"/>
          </a:p>
        </p:txBody>
      </p:sp>
      <p:sp>
        <p:nvSpPr>
          <p:cNvPr id="40" name="Shape 31"/>
          <p:cNvSpPr/>
          <p:nvPr/>
        </p:nvSpPr>
        <p:spPr>
          <a:xfrm>
            <a:off x="804672" y="626364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DADBF1"/>
          </a:solidFill>
          <a:ln/>
        </p:spPr>
      </p:sp>
      <p:sp>
        <p:nvSpPr>
          <p:cNvPr id="41" name="Text 32"/>
          <p:cNvSpPr/>
          <p:nvPr/>
        </p:nvSpPr>
        <p:spPr>
          <a:xfrm>
            <a:off x="804672" y="626364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5FA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20 min</a:t>
            </a:r>
            <a:endParaRPr lang="en-US" sz="1050" dirty="0"/>
          </a:p>
        </p:txBody>
      </p:sp>
      <p:sp>
        <p:nvSpPr>
          <p:cNvPr id="42" name="Text 33"/>
          <p:cNvSpPr/>
          <p:nvPr/>
        </p:nvSpPr>
        <p:spPr>
          <a:xfrm>
            <a:off x="804672" y="6656832"/>
            <a:ext cx="3755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Business &amp; engineering risk of ungoverned agent use on closed-toolchain C/C++ firmware.</a:t>
            </a:r>
            <a:endParaRPr lang="en-US" sz="1050" dirty="0"/>
          </a:p>
        </p:txBody>
      </p:sp>
      <p:sp>
        <p:nvSpPr>
          <p:cNvPr id="43" name="Shape 34"/>
          <p:cNvSpPr/>
          <p:nvPr/>
        </p:nvSpPr>
        <p:spPr>
          <a:xfrm>
            <a:off x="5181600" y="4846320"/>
            <a:ext cx="42672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44" name="Shape 35"/>
          <p:cNvSpPr/>
          <p:nvPr/>
        </p:nvSpPr>
        <p:spPr>
          <a:xfrm>
            <a:off x="5437632" y="5102352"/>
            <a:ext cx="566928" cy="566928"/>
          </a:xfrm>
          <a:prstGeom prst="ellipse">
            <a:avLst/>
          </a:prstGeom>
          <a:solidFill>
            <a:srgbClr val="0B3D7A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45" name="Image 7" descr="/home/claude/work/icons/eye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73695" y="5238415"/>
            <a:ext cx="294803" cy="294803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8671560" y="50292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B5FA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05</a:t>
            </a:r>
            <a:endParaRPr lang="en-US" sz="1800" dirty="0"/>
          </a:p>
        </p:txBody>
      </p:sp>
      <p:sp>
        <p:nvSpPr>
          <p:cNvPr id="47" name="Text 37"/>
          <p:cNvSpPr/>
          <p:nvPr/>
        </p:nvSpPr>
        <p:spPr>
          <a:xfrm>
            <a:off x="5437632" y="5779008"/>
            <a:ext cx="3755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Lifecycle Context + Agent Prism</a:t>
            </a:r>
            <a:endParaRPr lang="en-US" sz="1500" dirty="0"/>
          </a:p>
        </p:txBody>
      </p:sp>
      <p:sp>
        <p:nvSpPr>
          <p:cNvPr id="48" name="Shape 38"/>
          <p:cNvSpPr/>
          <p:nvPr/>
        </p:nvSpPr>
        <p:spPr>
          <a:xfrm>
            <a:off x="5437632" y="626364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DADBF1"/>
          </a:solidFill>
          <a:ln/>
        </p:spPr>
      </p:sp>
      <p:sp>
        <p:nvSpPr>
          <p:cNvPr id="49" name="Text 39"/>
          <p:cNvSpPr/>
          <p:nvPr/>
        </p:nvSpPr>
        <p:spPr>
          <a:xfrm>
            <a:off x="5437632" y="626364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5FA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25 min</a:t>
            </a:r>
            <a:endParaRPr lang="en-US" sz="1050" dirty="0"/>
          </a:p>
        </p:txBody>
      </p:sp>
      <p:sp>
        <p:nvSpPr>
          <p:cNvPr id="50" name="Text 40"/>
          <p:cNvSpPr/>
          <p:nvPr/>
        </p:nvSpPr>
        <p:spPr>
          <a:xfrm>
            <a:off x="5437632" y="6656832"/>
            <a:ext cx="3755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Where the embedded SDLC hurts today, and the monitoring lens we'll use all week.</a:t>
            </a:r>
            <a:endParaRPr lang="en-US" sz="1050" dirty="0"/>
          </a:p>
        </p:txBody>
      </p:sp>
      <p:sp>
        <p:nvSpPr>
          <p:cNvPr id="51" name="Shape 41"/>
          <p:cNvSpPr/>
          <p:nvPr/>
        </p:nvSpPr>
        <p:spPr>
          <a:xfrm>
            <a:off x="9814560" y="4846320"/>
            <a:ext cx="42672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52" name="Shape 42"/>
          <p:cNvSpPr/>
          <p:nvPr/>
        </p:nvSpPr>
        <p:spPr>
          <a:xfrm>
            <a:off x="10070592" y="5102352"/>
            <a:ext cx="566928" cy="566928"/>
          </a:xfrm>
          <a:prstGeom prst="ellipse">
            <a:avLst/>
          </a:prstGeom>
          <a:solidFill>
            <a:srgbClr val="0B3D7A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53" name="Image 8" descr="/home/claude/work/icons/map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06655" y="5238415"/>
            <a:ext cx="294803" cy="294803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13304520" y="50292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B5FA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06</a:t>
            </a:r>
            <a:endParaRPr lang="en-US" sz="1800" dirty="0"/>
          </a:p>
        </p:txBody>
      </p:sp>
      <p:sp>
        <p:nvSpPr>
          <p:cNvPr id="55" name="Text 44"/>
          <p:cNvSpPr/>
          <p:nvPr/>
        </p:nvSpPr>
        <p:spPr>
          <a:xfrm>
            <a:off x="10070592" y="5779008"/>
            <a:ext cx="3755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Current → Target Canvas</a:t>
            </a:r>
            <a:endParaRPr lang="en-US" sz="1500" dirty="0"/>
          </a:p>
        </p:txBody>
      </p:sp>
      <p:sp>
        <p:nvSpPr>
          <p:cNvPr id="56" name="Shape 45"/>
          <p:cNvSpPr/>
          <p:nvPr/>
        </p:nvSpPr>
        <p:spPr>
          <a:xfrm>
            <a:off x="10070592" y="626364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DADBF1"/>
          </a:solidFill>
          <a:ln/>
        </p:spPr>
      </p:sp>
      <p:sp>
        <p:nvSpPr>
          <p:cNvPr id="57" name="Text 46"/>
          <p:cNvSpPr/>
          <p:nvPr/>
        </p:nvSpPr>
        <p:spPr>
          <a:xfrm>
            <a:off x="10070592" y="626364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5FA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15 min</a:t>
            </a:r>
            <a:endParaRPr lang="en-US" sz="1050" dirty="0"/>
          </a:p>
        </p:txBody>
      </p:sp>
      <p:sp>
        <p:nvSpPr>
          <p:cNvPr id="58" name="Text 47"/>
          <p:cNvSpPr/>
          <p:nvPr/>
        </p:nvSpPr>
        <p:spPr>
          <a:xfrm>
            <a:off x="10070592" y="6656832"/>
            <a:ext cx="3755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Workshop output: workflow canvas + success metrics that feed every later module.</a:t>
            </a:r>
            <a:endParaRPr lang="en-US" sz="1050" dirty="0"/>
          </a:p>
        </p:txBody>
      </p:sp>
      <p:sp>
        <p:nvSpPr>
          <p:cNvPr id="59" name="Shape 48"/>
          <p:cNvSpPr/>
          <p:nvPr/>
        </p:nvSpPr>
        <p:spPr>
          <a:xfrm>
            <a:off x="548640" y="6967728"/>
            <a:ext cx="13533120" cy="914"/>
          </a:xfrm>
          <a:prstGeom prst="roundRect">
            <a:avLst/>
          </a:prstGeom>
          <a:noFill/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Image 1" descr="/home/claude/work/staroute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0" y="201168"/>
            <a:ext cx="2514600" cy="501091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896112"/>
            <a:ext cx="14630400" cy="646480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548640" y="25603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CHAMPIONS PROGRAMME  |  MODULE 01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548640" y="1060704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Module 01 in the 11-Module Journey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548640" y="1700784"/>
            <a:ext cx="1353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An incremental engineering journey, not a tour of AI tools — every later module assumes what we establish today.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6035040" y="7699248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HONEYWELL EMBEDDED ENGINEERING • AI CHAMPIONS PROGRAMME — MODULE 01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13121640" y="7452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03 / 14</a:t>
            </a:r>
            <a:endParaRPr lang="en-US" sz="1050" dirty="0"/>
          </a:p>
        </p:txBody>
      </p:sp>
      <p:pic>
        <p:nvPicPr>
          <p:cNvPr id="10" name="Image 2" descr="/home/claude/work/niit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0280" y="7479792"/>
            <a:ext cx="603504" cy="349301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2514600"/>
            <a:ext cx="4738255" cy="365760"/>
          </a:xfrm>
          <a:prstGeom prst="roundRect">
            <a:avLst>
              <a:gd name="adj" fmla="val 17500"/>
            </a:avLst>
          </a:prstGeom>
          <a:solidFill>
            <a:srgbClr val="0B3D7A">
              <a:alpha val="12000"/>
            </a:srgbClr>
          </a:solidFill>
          <a:ln w="12700">
            <a:solidFill>
              <a:srgbClr val="0B3D7A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40080" y="2514600"/>
            <a:ext cx="4738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80" kern="0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FOUNDATION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5561215" y="2514600"/>
            <a:ext cx="2277687" cy="365760"/>
          </a:xfrm>
          <a:prstGeom prst="roundRect">
            <a:avLst>
              <a:gd name="adj" fmla="val 17500"/>
            </a:avLst>
          </a:prstGeom>
          <a:solidFill>
            <a:srgbClr val="1257C6">
              <a:alpha val="12000"/>
            </a:srgbClr>
          </a:solidFill>
          <a:ln w="12700">
            <a:solidFill>
              <a:srgbClr val="1257C6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561215" y="2514600"/>
            <a:ext cx="22776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80" kern="0" dirty="0">
                <a:solidFill>
                  <a:srgbClr val="1257C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BUILD &amp; VALIDATE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8021782" y="2514600"/>
            <a:ext cx="4738255" cy="365760"/>
          </a:xfrm>
          <a:prstGeom prst="roundRect">
            <a:avLst>
              <a:gd name="adj" fmla="val 17500"/>
            </a:avLst>
          </a:prstGeom>
          <a:solidFill>
            <a:srgbClr val="5B5FA6">
              <a:alpha val="12000"/>
            </a:srgbClr>
          </a:solidFill>
          <a:ln w="12700">
            <a:solidFill>
              <a:srgbClr val="5B5FA6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8021782" y="2514600"/>
            <a:ext cx="4738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80" kern="0" dirty="0">
                <a:solidFill>
                  <a:srgbClr val="5B5FA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SCALE &amp; GOVERN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12942916" y="2514600"/>
            <a:ext cx="1047404" cy="365760"/>
          </a:xfrm>
          <a:prstGeom prst="roundRect">
            <a:avLst>
              <a:gd name="adj" fmla="val 17500"/>
            </a:avLst>
          </a:prstGeom>
          <a:solidFill>
            <a:srgbClr val="F15719">
              <a:alpha val="12000"/>
            </a:srgbClr>
          </a:solidFill>
          <a:ln w="12700">
            <a:solidFill>
              <a:srgbClr val="F15719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2942916" y="2514600"/>
            <a:ext cx="10474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80" kern="0" dirty="0">
                <a:solidFill>
                  <a:srgbClr val="F1571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CAPSTONE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1163782" y="3589020"/>
            <a:ext cx="12302836" cy="0"/>
          </a:xfrm>
          <a:prstGeom prst="line">
            <a:avLst/>
          </a:prstGeom>
          <a:noFill/>
          <a:ln w="31750">
            <a:solidFill>
              <a:srgbClr val="B7B9E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92866" y="3118104"/>
            <a:ext cx="941832" cy="941832"/>
          </a:xfrm>
          <a:prstGeom prst="ellipse">
            <a:avLst/>
          </a:prstGeom>
          <a:solidFill>
            <a:srgbClr val="F15719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25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692866" y="3118104"/>
            <a:ext cx="94183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411480" y="4142232"/>
            <a:ext cx="15046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1571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Champions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1571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Kick-off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2005445" y="3200400"/>
            <a:ext cx="777240" cy="777240"/>
          </a:xfrm>
          <a:prstGeom prst="ellipse">
            <a:avLst/>
          </a:prstGeom>
          <a:solidFill>
            <a:srgbClr val="0B3D7A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25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2005445" y="3200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1641764" y="4142232"/>
            <a:ext cx="15046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Copilot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Enterprise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3235729" y="3200400"/>
            <a:ext cx="777240" cy="777240"/>
          </a:xfrm>
          <a:prstGeom prst="ellipse">
            <a:avLst/>
          </a:prstGeom>
          <a:solidFill>
            <a:srgbClr val="0B3D7A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25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3235729" y="3200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2872047" y="4142232"/>
            <a:ext cx="15046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Prompt &amp;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Context Recap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4466013" y="3200400"/>
            <a:ext cx="777240" cy="777240"/>
          </a:xfrm>
          <a:prstGeom prst="ellipse">
            <a:avLst/>
          </a:prstGeom>
          <a:solidFill>
            <a:srgbClr val="0B3D7A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25000"/>
              </a:srgbClr>
            </a:outerShdw>
          </a:effectLst>
        </p:spPr>
      </p:sp>
      <p:sp>
        <p:nvSpPr>
          <p:cNvPr id="30" name="Text 25"/>
          <p:cNvSpPr/>
          <p:nvPr/>
        </p:nvSpPr>
        <p:spPr>
          <a:xfrm>
            <a:off x="4466013" y="3200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4102331" y="4142232"/>
            <a:ext cx="15046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Spec-Driven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Development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5696296" y="3200400"/>
            <a:ext cx="777240" cy="777240"/>
          </a:xfrm>
          <a:prstGeom prst="ellipse">
            <a:avLst/>
          </a:prstGeom>
          <a:solidFill>
            <a:srgbClr val="0B3D7A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25000"/>
              </a:srgbClr>
            </a:outerShdw>
          </a:effectLst>
        </p:spPr>
      </p:sp>
      <p:sp>
        <p:nvSpPr>
          <p:cNvPr id="33" name="Text 28"/>
          <p:cNvSpPr/>
          <p:nvPr/>
        </p:nvSpPr>
        <p:spPr>
          <a:xfrm>
            <a:off x="5696296" y="3200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29"/>
          <p:cNvSpPr/>
          <p:nvPr/>
        </p:nvSpPr>
        <p:spPr>
          <a:xfrm>
            <a:off x="5332615" y="4142232"/>
            <a:ext cx="15046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Greenfield →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Brownfield SDLC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6926580" y="3200400"/>
            <a:ext cx="777240" cy="777240"/>
          </a:xfrm>
          <a:prstGeom prst="ellipse">
            <a:avLst/>
          </a:prstGeom>
          <a:solidFill>
            <a:srgbClr val="0B3D7A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25000"/>
              </a:srgbClr>
            </a:outerShdw>
          </a:effectLst>
        </p:spPr>
      </p:sp>
      <p:sp>
        <p:nvSpPr>
          <p:cNvPr id="36" name="Text 31"/>
          <p:cNvSpPr/>
          <p:nvPr/>
        </p:nvSpPr>
        <p:spPr>
          <a:xfrm>
            <a:off x="6926580" y="3200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2"/>
          <p:cNvSpPr/>
          <p:nvPr/>
        </p:nvSpPr>
        <p:spPr>
          <a:xfrm>
            <a:off x="6562898" y="4142232"/>
            <a:ext cx="15046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Embedded Test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Strategy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8156864" y="3200400"/>
            <a:ext cx="777240" cy="777240"/>
          </a:xfrm>
          <a:prstGeom prst="ellipse">
            <a:avLst/>
          </a:prstGeom>
          <a:solidFill>
            <a:srgbClr val="0B3D7A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25000"/>
              </a:srgbClr>
            </a:outerShdw>
          </a:effectLst>
        </p:spPr>
      </p:sp>
      <p:sp>
        <p:nvSpPr>
          <p:cNvPr id="39" name="Text 34"/>
          <p:cNvSpPr/>
          <p:nvPr/>
        </p:nvSpPr>
        <p:spPr>
          <a:xfrm>
            <a:off x="8156864" y="3200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7</a:t>
            </a:r>
            <a:endParaRPr lang="en-US" sz="1600" dirty="0"/>
          </a:p>
        </p:txBody>
      </p:sp>
      <p:sp>
        <p:nvSpPr>
          <p:cNvPr id="40" name="Text 35"/>
          <p:cNvSpPr/>
          <p:nvPr/>
        </p:nvSpPr>
        <p:spPr>
          <a:xfrm>
            <a:off x="7793182" y="4142232"/>
            <a:ext cx="15046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MCP-Enabled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Agentic Eng.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9387147" y="3200400"/>
            <a:ext cx="777240" cy="777240"/>
          </a:xfrm>
          <a:prstGeom prst="ellipse">
            <a:avLst/>
          </a:prstGeom>
          <a:solidFill>
            <a:srgbClr val="0B3D7A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25000"/>
              </a:srgbClr>
            </a:outerShdw>
          </a:effectLst>
        </p:spPr>
      </p:sp>
      <p:sp>
        <p:nvSpPr>
          <p:cNvPr id="42" name="Text 37"/>
          <p:cNvSpPr/>
          <p:nvPr/>
        </p:nvSpPr>
        <p:spPr>
          <a:xfrm>
            <a:off x="9387147" y="3200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8</a:t>
            </a:r>
            <a:endParaRPr lang="en-US" sz="1600" dirty="0"/>
          </a:p>
        </p:txBody>
      </p:sp>
      <p:sp>
        <p:nvSpPr>
          <p:cNvPr id="43" name="Text 38"/>
          <p:cNvSpPr/>
          <p:nvPr/>
        </p:nvSpPr>
        <p:spPr>
          <a:xfrm>
            <a:off x="9023465" y="4142232"/>
            <a:ext cx="15046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 Automation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&amp; LLM-as-Judge</a:t>
            </a:r>
            <a:endParaRPr lang="en-US" sz="950" dirty="0"/>
          </a:p>
        </p:txBody>
      </p:sp>
      <p:sp>
        <p:nvSpPr>
          <p:cNvPr id="44" name="Shape 39"/>
          <p:cNvSpPr/>
          <p:nvPr/>
        </p:nvSpPr>
        <p:spPr>
          <a:xfrm>
            <a:off x="10617431" y="3200400"/>
            <a:ext cx="777240" cy="777240"/>
          </a:xfrm>
          <a:prstGeom prst="ellipse">
            <a:avLst/>
          </a:prstGeom>
          <a:solidFill>
            <a:srgbClr val="0B3D7A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25000"/>
              </a:srgbClr>
            </a:outerShdw>
          </a:effectLst>
        </p:spPr>
      </p:sp>
      <p:sp>
        <p:nvSpPr>
          <p:cNvPr id="45" name="Text 40"/>
          <p:cNvSpPr/>
          <p:nvPr/>
        </p:nvSpPr>
        <p:spPr>
          <a:xfrm>
            <a:off x="10617431" y="3200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9</a:t>
            </a:r>
            <a:endParaRPr lang="en-US" sz="1600" dirty="0"/>
          </a:p>
        </p:txBody>
      </p:sp>
      <p:sp>
        <p:nvSpPr>
          <p:cNvPr id="46" name="Text 41"/>
          <p:cNvSpPr/>
          <p:nvPr/>
        </p:nvSpPr>
        <p:spPr>
          <a:xfrm>
            <a:off x="10253749" y="4142232"/>
            <a:ext cx="15046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Agent Prism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Observability</a:t>
            </a:r>
            <a:endParaRPr lang="en-US" sz="950" dirty="0"/>
          </a:p>
        </p:txBody>
      </p:sp>
      <p:sp>
        <p:nvSpPr>
          <p:cNvPr id="47" name="Shape 42"/>
          <p:cNvSpPr/>
          <p:nvPr/>
        </p:nvSpPr>
        <p:spPr>
          <a:xfrm>
            <a:off x="11847715" y="3200400"/>
            <a:ext cx="777240" cy="777240"/>
          </a:xfrm>
          <a:prstGeom prst="ellipse">
            <a:avLst/>
          </a:prstGeom>
          <a:solidFill>
            <a:srgbClr val="0B3D7A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25000"/>
              </a:srgbClr>
            </a:outerShdw>
          </a:effectLst>
        </p:spPr>
      </p:sp>
      <p:sp>
        <p:nvSpPr>
          <p:cNvPr id="48" name="Text 43"/>
          <p:cNvSpPr/>
          <p:nvPr/>
        </p:nvSpPr>
        <p:spPr>
          <a:xfrm>
            <a:off x="11847715" y="3200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10</a:t>
            </a:r>
            <a:endParaRPr lang="en-US" sz="1600" dirty="0"/>
          </a:p>
        </p:txBody>
      </p:sp>
      <p:sp>
        <p:nvSpPr>
          <p:cNvPr id="49" name="Text 44"/>
          <p:cNvSpPr/>
          <p:nvPr/>
        </p:nvSpPr>
        <p:spPr>
          <a:xfrm>
            <a:off x="11484033" y="4142232"/>
            <a:ext cx="15046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ROI &amp; Token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Economics</a:t>
            </a:r>
            <a:endParaRPr lang="en-US" sz="950" dirty="0"/>
          </a:p>
        </p:txBody>
      </p:sp>
      <p:sp>
        <p:nvSpPr>
          <p:cNvPr id="50" name="Shape 45"/>
          <p:cNvSpPr/>
          <p:nvPr/>
        </p:nvSpPr>
        <p:spPr>
          <a:xfrm>
            <a:off x="13077998" y="3200400"/>
            <a:ext cx="777240" cy="777240"/>
          </a:xfrm>
          <a:prstGeom prst="ellipse">
            <a:avLst/>
          </a:prstGeom>
          <a:solidFill>
            <a:srgbClr val="0B3D7A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25000"/>
              </a:srgbClr>
            </a:outerShdw>
          </a:effectLst>
        </p:spPr>
      </p:sp>
      <p:sp>
        <p:nvSpPr>
          <p:cNvPr id="51" name="Text 46"/>
          <p:cNvSpPr/>
          <p:nvPr/>
        </p:nvSpPr>
        <p:spPr>
          <a:xfrm>
            <a:off x="13077998" y="3200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11</a:t>
            </a:r>
            <a:endParaRPr lang="en-US" sz="1600" dirty="0"/>
          </a:p>
        </p:txBody>
      </p:sp>
      <p:sp>
        <p:nvSpPr>
          <p:cNvPr id="52" name="Text 47"/>
          <p:cNvSpPr/>
          <p:nvPr/>
        </p:nvSpPr>
        <p:spPr>
          <a:xfrm>
            <a:off x="12714316" y="4142232"/>
            <a:ext cx="15046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Capstone &amp;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Roadmap</a:t>
            </a:r>
            <a:endParaRPr lang="en-US" sz="950" dirty="0"/>
          </a:p>
        </p:txBody>
      </p:sp>
      <p:sp>
        <p:nvSpPr>
          <p:cNvPr id="53" name="Shape 48"/>
          <p:cNvSpPr/>
          <p:nvPr/>
        </p:nvSpPr>
        <p:spPr>
          <a:xfrm>
            <a:off x="548640" y="6537960"/>
            <a:ext cx="13533120" cy="868680"/>
          </a:xfrm>
          <a:prstGeom prst="roundRect">
            <a:avLst>
              <a:gd name="adj" fmla="val 9474"/>
            </a:avLst>
          </a:prstGeom>
          <a:solidFill>
            <a:srgbClr val="F4F6FD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54" name="Text 49"/>
          <p:cNvSpPr/>
          <p:nvPr/>
        </p:nvSpPr>
        <p:spPr>
          <a:xfrm>
            <a:off x="822960" y="6537960"/>
            <a:ext cx="1298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Why this matters: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Copilot capability-building in Module 2, the spec discipline in Module 4, and the brownfield firmware work in Module 5 all assume the shared vocabulary, risk awareness, and success metrics this module establishes.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Image 1" descr="/home/claude/work/staroute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0" y="201168"/>
            <a:ext cx="2514600" cy="501091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896112"/>
            <a:ext cx="14630400" cy="646480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548640" y="25603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CHAMPIONS PROGRAMME  |  MODULE 01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548640" y="1060704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From Isolated Experimentation to Disciplined Adoption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548640" y="1700784"/>
            <a:ext cx="1353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The shift this programme exists to drive across Process, Industrial &amp; Building Automation engineering.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6035040" y="7699248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HONEYWELL EMBEDDED ENGINEERING • AI CHAMPIONS PROGRAMME — MODULE 01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13121640" y="7452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04 / 14</a:t>
            </a:r>
            <a:endParaRPr lang="en-US" sz="1050" dirty="0"/>
          </a:p>
        </p:txBody>
      </p:sp>
      <p:pic>
        <p:nvPicPr>
          <p:cNvPr id="10" name="Image 2" descr="/home/claude/work/niit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0280" y="7479792"/>
            <a:ext cx="603504" cy="349301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48640" y="2331720"/>
            <a:ext cx="6035040" cy="4892040"/>
          </a:xfrm>
          <a:prstGeom prst="roundRect">
            <a:avLst>
              <a:gd name="adj" fmla="val 1682"/>
            </a:avLst>
          </a:prstGeom>
          <a:solidFill>
            <a:srgbClr val="FBE7E4"/>
          </a:solidFill>
          <a:ln w="12700">
            <a:solidFill>
              <a:srgbClr val="F0C4BC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548640" y="2331720"/>
            <a:ext cx="6035040" cy="566928"/>
          </a:xfrm>
          <a:prstGeom prst="roundRect">
            <a:avLst>
              <a:gd name="adj" fmla="val 14516"/>
            </a:avLst>
          </a:prstGeom>
          <a:solidFill>
            <a:srgbClr val="C0392B"/>
          </a:solidFill>
          <a:ln/>
        </p:spPr>
      </p:sp>
      <p:sp>
        <p:nvSpPr>
          <p:cNvPr id="13" name="Text 8"/>
          <p:cNvSpPr/>
          <p:nvPr/>
        </p:nvSpPr>
        <p:spPr>
          <a:xfrm>
            <a:off x="548640" y="233172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spc="6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TODAY — ISOLATED AI EXPERIMENTATION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822960" y="3191256"/>
            <a:ext cx="100584" cy="10058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0"/>
          <p:cNvSpPr/>
          <p:nvPr/>
        </p:nvSpPr>
        <p:spPr>
          <a:xfrm>
            <a:off x="1051560" y="3054096"/>
            <a:ext cx="5257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Individual engineers try Copilot ad hoc, with no shared context-engineering discipline across PA / IA / BA teams.</a:t>
            </a:r>
            <a:endParaRPr lang="en-US" sz="1180" dirty="0"/>
          </a:p>
        </p:txBody>
      </p:sp>
      <p:sp>
        <p:nvSpPr>
          <p:cNvPr id="16" name="Shape 11"/>
          <p:cNvSpPr/>
          <p:nvPr/>
        </p:nvSpPr>
        <p:spPr>
          <a:xfrm>
            <a:off x="822960" y="4014216"/>
            <a:ext cx="100584" cy="10058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2"/>
          <p:cNvSpPr/>
          <p:nvPr/>
        </p:nvSpPr>
        <p:spPr>
          <a:xfrm>
            <a:off x="1051560" y="3877056"/>
            <a:ext cx="5257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No consistent view of what AI actually changed inside safety- and timing-sensitive C/C++ firmware.</a:t>
            </a:r>
            <a:endParaRPr lang="en-US" sz="1180" dirty="0"/>
          </a:p>
        </p:txBody>
      </p:sp>
      <p:sp>
        <p:nvSpPr>
          <p:cNvPr id="18" name="Shape 13"/>
          <p:cNvSpPr/>
          <p:nvPr/>
        </p:nvSpPr>
        <p:spPr>
          <a:xfrm>
            <a:off x="822960" y="4837176"/>
            <a:ext cx="100584" cy="10058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9" name="Text 14"/>
          <p:cNvSpPr/>
          <p:nvPr/>
        </p:nvSpPr>
        <p:spPr>
          <a:xfrm>
            <a:off x="1051560" y="4700016"/>
            <a:ext cx="5257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Inconsistent trust calibration — some engineers over-trust closed-toolchain suggestions, others ignore Copilot entirely.</a:t>
            </a:r>
            <a:endParaRPr lang="en-US" sz="1180" dirty="0"/>
          </a:p>
        </p:txBody>
      </p:sp>
      <p:sp>
        <p:nvSpPr>
          <p:cNvPr id="20" name="Shape 15"/>
          <p:cNvSpPr/>
          <p:nvPr/>
        </p:nvSpPr>
        <p:spPr>
          <a:xfrm>
            <a:off x="822960" y="5660136"/>
            <a:ext cx="100584" cy="10058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6"/>
          <p:cNvSpPr/>
          <p:nvPr/>
        </p:nvSpPr>
        <p:spPr>
          <a:xfrm>
            <a:off x="1051560" y="5522976"/>
            <a:ext cx="5257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Zero specification or traceability discipline: prompt-only development with no link back to requirements.</a:t>
            </a:r>
            <a:endParaRPr lang="en-US" sz="1180" dirty="0"/>
          </a:p>
        </p:txBody>
      </p:sp>
      <p:sp>
        <p:nvSpPr>
          <p:cNvPr id="22" name="Shape 17"/>
          <p:cNvSpPr/>
          <p:nvPr/>
        </p:nvSpPr>
        <p:spPr>
          <a:xfrm>
            <a:off x="822960" y="6483096"/>
            <a:ext cx="100584" cy="10058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3" name="Text 18"/>
          <p:cNvSpPr/>
          <p:nvPr/>
        </p:nvSpPr>
        <p:spPr>
          <a:xfrm>
            <a:off x="1051560" y="6345936"/>
            <a:ext cx="5257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No visibility into token cost, usage patterns, or where AI-assisted work is actually paying off.</a:t>
            </a:r>
            <a:endParaRPr lang="en-US" sz="1180" dirty="0"/>
          </a:p>
        </p:txBody>
      </p:sp>
      <p:sp>
        <p:nvSpPr>
          <p:cNvPr id="24" name="Shape 19"/>
          <p:cNvSpPr/>
          <p:nvPr/>
        </p:nvSpPr>
        <p:spPr>
          <a:xfrm>
            <a:off x="6949440" y="4480560"/>
            <a:ext cx="731520" cy="731520"/>
          </a:xfrm>
          <a:prstGeom prst="ellipse">
            <a:avLst/>
          </a:prstGeom>
          <a:solidFill>
            <a:srgbClr val="F15719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25" name="Image 3" descr="/home/claude/work/icons/arrowrigh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05" y="4656125"/>
            <a:ext cx="380390" cy="38039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8046720" y="2331720"/>
            <a:ext cx="6035040" cy="4892040"/>
          </a:xfrm>
          <a:prstGeom prst="roundRect">
            <a:avLst>
              <a:gd name="adj" fmla="val 1682"/>
            </a:avLst>
          </a:prstGeom>
          <a:solidFill>
            <a:srgbClr val="E1F1EA"/>
          </a:solidFill>
          <a:ln w="12700">
            <a:solidFill>
              <a:srgbClr val="BFE3D2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046720" y="2331720"/>
            <a:ext cx="6035040" cy="566928"/>
          </a:xfrm>
          <a:prstGeom prst="roundRect">
            <a:avLst>
              <a:gd name="adj" fmla="val 14516"/>
            </a:avLst>
          </a:prstGeom>
          <a:solidFill>
            <a:srgbClr val="1E8A5F"/>
          </a:solidFill>
          <a:ln/>
        </p:spPr>
      </p:sp>
      <p:sp>
        <p:nvSpPr>
          <p:cNvPr id="28" name="Text 22"/>
          <p:cNvSpPr/>
          <p:nvPr/>
        </p:nvSpPr>
        <p:spPr>
          <a:xfrm>
            <a:off x="8046720" y="233172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spc="6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TARGET — CHAMPION-LED ENTERPRISE ADOPTION</a:t>
            </a:r>
            <a:endParaRPr lang="en-US" sz="1350" dirty="0"/>
          </a:p>
        </p:txBody>
      </p:sp>
      <p:sp>
        <p:nvSpPr>
          <p:cNvPr id="29" name="Shape 23"/>
          <p:cNvSpPr/>
          <p:nvPr/>
        </p:nvSpPr>
        <p:spPr>
          <a:xfrm>
            <a:off x="8321040" y="3191256"/>
            <a:ext cx="100584" cy="100584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30" name="Text 24"/>
          <p:cNvSpPr/>
          <p:nvPr/>
        </p:nvSpPr>
        <p:spPr>
          <a:xfrm>
            <a:off x="8549640" y="3054096"/>
            <a:ext cx="5257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 designated AI Champion per GBE (PA · IA · BA) anchors practice and answers day-to-day “can we trust this?” questions.</a:t>
            </a:r>
            <a:endParaRPr lang="en-US" sz="1180" dirty="0"/>
          </a:p>
        </p:txBody>
      </p:sp>
      <p:sp>
        <p:nvSpPr>
          <p:cNvPr id="31" name="Shape 25"/>
          <p:cNvSpPr/>
          <p:nvPr/>
        </p:nvSpPr>
        <p:spPr>
          <a:xfrm>
            <a:off x="8321040" y="4014216"/>
            <a:ext cx="100584" cy="100584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32" name="Text 26"/>
          <p:cNvSpPr/>
          <p:nvPr/>
        </p:nvSpPr>
        <p:spPr>
          <a:xfrm>
            <a:off x="8549640" y="3877056"/>
            <a:ext cx="5257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Shared specification + context-engineering discipline (Modules 3–4) applied consistently to embedded repositories.</a:t>
            </a:r>
            <a:endParaRPr lang="en-US" sz="1180" dirty="0"/>
          </a:p>
        </p:txBody>
      </p:sp>
      <p:sp>
        <p:nvSpPr>
          <p:cNvPr id="33" name="Shape 27"/>
          <p:cNvSpPr/>
          <p:nvPr/>
        </p:nvSpPr>
        <p:spPr>
          <a:xfrm>
            <a:off x="8321040" y="4837176"/>
            <a:ext cx="100584" cy="100584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34" name="Text 28"/>
          <p:cNvSpPr/>
          <p:nvPr/>
        </p:nvSpPr>
        <p:spPr>
          <a:xfrm>
            <a:off x="8549640" y="4700016"/>
            <a:ext cx="5257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usage made visible through Agent Prism — traces, token cost, quality signals, adoption — not a black box.</a:t>
            </a:r>
            <a:endParaRPr lang="en-US" sz="1180" dirty="0"/>
          </a:p>
        </p:txBody>
      </p:sp>
      <p:sp>
        <p:nvSpPr>
          <p:cNvPr id="35" name="Shape 29"/>
          <p:cNvSpPr/>
          <p:nvPr/>
        </p:nvSpPr>
        <p:spPr>
          <a:xfrm>
            <a:off x="8321040" y="5660136"/>
            <a:ext cx="100584" cy="100584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36" name="Text 30"/>
          <p:cNvSpPr/>
          <p:nvPr/>
        </p:nvSpPr>
        <p:spPr>
          <a:xfrm>
            <a:off x="8549640" y="5522976"/>
            <a:ext cx="5257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Explicit, role-based expectations for Architects, Developers, Testers, DevOps/SRE and Engineering Leads.</a:t>
            </a:r>
            <a:endParaRPr lang="en-US" sz="1180" dirty="0"/>
          </a:p>
        </p:txBody>
      </p:sp>
      <p:sp>
        <p:nvSpPr>
          <p:cNvPr id="37" name="Shape 31"/>
          <p:cNvSpPr/>
          <p:nvPr/>
        </p:nvSpPr>
        <p:spPr>
          <a:xfrm>
            <a:off x="8321040" y="6483096"/>
            <a:ext cx="100584" cy="100584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38" name="Text 32"/>
          <p:cNvSpPr/>
          <p:nvPr/>
        </p:nvSpPr>
        <p:spPr>
          <a:xfrm>
            <a:off x="8549640" y="6345936"/>
            <a:ext cx="5257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 governed path from greenfield spec-driven builds to safe brownfield firmware evolution.</a:t>
            </a:r>
            <a:endParaRPr lang="en-US" sz="11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Image 1" descr="/home/claude/work/staroute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0" y="201168"/>
            <a:ext cx="2514600" cy="501091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896112"/>
            <a:ext cx="14630400" cy="646480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548640" y="25603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CHAMPIONS PROGRAMME  |  MODULE 01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548640" y="1060704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Who's in the Room: Cohort Composition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548640" y="1700784"/>
            <a:ext cx="1353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28 participants across three Honeywell GBEs — the mixed-background reality this programme is designed around.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6035040" y="7699248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HONEYWELL EMBEDDED ENGINEERING • AI CHAMPIONS PROGRAMME — MODULE 01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13121640" y="7452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05 / 14</a:t>
            </a:r>
            <a:endParaRPr lang="en-US" sz="1050" dirty="0"/>
          </a:p>
        </p:txBody>
      </p:sp>
      <p:pic>
        <p:nvPicPr>
          <p:cNvPr id="10" name="Image 2" descr="/home/claude/work/niit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0280" y="7479792"/>
            <a:ext cx="603504" cy="349301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48640" y="2194560"/>
            <a:ext cx="7040880" cy="45262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12" name="Text 7"/>
          <p:cNvSpPr/>
          <p:nvPr/>
        </p:nvSpPr>
        <p:spPr>
          <a:xfrm>
            <a:off x="777240" y="230428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Participants by Business Unit &amp; Role Tier</a:t>
            </a:r>
            <a:endParaRPr lang="en-US" sz="13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31520" y="2651760"/>
          <a:ext cx="66751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Shape 8"/>
          <p:cNvSpPr/>
          <p:nvPr/>
        </p:nvSpPr>
        <p:spPr>
          <a:xfrm>
            <a:off x="7955280" y="2194560"/>
            <a:ext cx="612648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15" name="Text 9"/>
          <p:cNvSpPr/>
          <p:nvPr/>
        </p:nvSpPr>
        <p:spPr>
          <a:xfrm>
            <a:off x="8183880" y="230428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Champion Designation</a:t>
            </a:r>
            <a:endParaRPr lang="en-US" sz="1300" dirty="0"/>
          </a:p>
        </p:txBody>
      </p:sp>
      <p:graphicFrame>
        <p:nvGraphicFramePr>
          <p:cNvPr id="16" name="Chart 1" descr=""/>
          <p:cNvGraphicFramePr/>
          <p:nvPr/>
        </p:nvGraphicFramePr>
        <p:xfrm>
          <a:off x="8092440" y="2578608"/>
          <a:ext cx="233172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7" name="Text 10"/>
          <p:cNvSpPr/>
          <p:nvPr/>
        </p:nvSpPr>
        <p:spPr>
          <a:xfrm>
            <a:off x="8092440" y="3200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1571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9</a:t>
            </a:r>
            <a:endParaRPr lang="en-US" sz="2600" dirty="0"/>
          </a:p>
        </p:txBody>
      </p:sp>
      <p:sp>
        <p:nvSpPr>
          <p:cNvPr id="18" name="Text 11"/>
          <p:cNvSpPr/>
          <p:nvPr/>
        </p:nvSpPr>
        <p:spPr>
          <a:xfrm>
            <a:off x="8092440" y="3703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of 28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10561320" y="2788920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F15719"/>
          </a:solidFill>
          <a:ln/>
        </p:spPr>
      </p:sp>
      <p:sp>
        <p:nvSpPr>
          <p:cNvPr id="20" name="Text 13"/>
          <p:cNvSpPr/>
          <p:nvPr/>
        </p:nvSpPr>
        <p:spPr>
          <a:xfrm>
            <a:off x="10561320" y="278892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● Champion (9)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10561320" y="3200400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DADBF1"/>
          </a:solidFill>
          <a:ln/>
        </p:spPr>
      </p:sp>
      <p:sp>
        <p:nvSpPr>
          <p:cNvPr id="22" name="Text 15"/>
          <p:cNvSpPr/>
          <p:nvPr/>
        </p:nvSpPr>
        <p:spPr>
          <a:xfrm>
            <a:off x="10561320" y="320040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5FA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● Participant (19)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10561320" y="36576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Champions are named across all three GBEs — not concentrated in one business — giving each engineering group a local anchor.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7955280" y="4983480"/>
            <a:ext cx="6126480" cy="1737360"/>
          </a:xfrm>
          <a:prstGeom prst="roundRect">
            <a:avLst>
              <a:gd name="adj" fmla="val 4737"/>
            </a:avLst>
          </a:prstGeom>
          <a:solidFill>
            <a:srgbClr val="F4F6FD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8229600" y="5257800"/>
            <a:ext cx="566928" cy="566928"/>
          </a:xfrm>
          <a:prstGeom prst="ellipse">
            <a:avLst/>
          </a:prstGeom>
          <a:solidFill>
            <a:srgbClr val="0B3D7A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26" name="Image 3" descr="/home/claude/work/icons/clock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5663" y="5393863"/>
            <a:ext cx="294803" cy="294803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961120" y="51846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0y 8m → 25y 10m</a:t>
            </a:r>
            <a:endParaRPr lang="en-US" sz="2000" dirty="0"/>
          </a:p>
        </p:txBody>
      </p:sp>
      <p:sp>
        <p:nvSpPr>
          <p:cNvPr id="28" name="Text 20"/>
          <p:cNvSpPr/>
          <p:nvPr/>
        </p:nvSpPr>
        <p:spPr>
          <a:xfrm>
            <a:off x="8961120" y="56052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5B5FA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TENURE SPAN IN THE ROOM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8229600" y="594360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Design implication: pairing and pacing must work for a first-year Embedded Engr II and a 25-year Principal Architect in the same room.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Image 1" descr="/home/claude/work/staroute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0" y="201168"/>
            <a:ext cx="2514600" cy="501091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896112"/>
            <a:ext cx="14630400" cy="646480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548640" y="25603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CHAMPIONS PROGRAMME  |  MODULE 01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548640" y="1060704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Defining the AI Champion Persona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548640" y="1700784"/>
            <a:ext cx="1353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Three roles in the enterprise adoption model — today's cohort formally carries the first.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6035040" y="7699248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HONEYWELL EMBEDDED ENGINEERING • AI CHAMPIONS PROGRAMME — MODULE 01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13121640" y="7452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06 / 14</a:t>
            </a:r>
            <a:endParaRPr lang="en-US" sz="1050" dirty="0"/>
          </a:p>
        </p:txBody>
      </p:sp>
      <p:pic>
        <p:nvPicPr>
          <p:cNvPr id="10" name="Image 2" descr="/home/claude/work/niit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0280" y="7479792"/>
            <a:ext cx="603504" cy="349301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48640" y="2286000"/>
            <a:ext cx="4160520" cy="4160520"/>
          </a:xfrm>
          <a:prstGeom prst="roundRect">
            <a:avLst>
              <a:gd name="adj" fmla="val 1978"/>
            </a:avLst>
          </a:prstGeom>
          <a:solidFill>
            <a:srgbClr val="F4F6FD"/>
          </a:solidFill>
          <a:ln w="12700">
            <a:solidFill>
              <a:srgbClr val="0B3D7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2217420" y="2606040"/>
            <a:ext cx="822960" cy="822960"/>
          </a:xfrm>
          <a:prstGeom prst="ellipse">
            <a:avLst/>
          </a:prstGeom>
          <a:solidFill>
            <a:srgbClr val="0B3D7A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13" name="Image 3" descr="/home/claude/work/icons/champion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930" y="2803550"/>
            <a:ext cx="427939" cy="42793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31520" y="356616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Champion</a:t>
            </a:r>
            <a:endParaRPr lang="en-US" sz="1700" dirty="0"/>
          </a:p>
        </p:txBody>
      </p:sp>
      <p:sp>
        <p:nvSpPr>
          <p:cNvPr id="15" name="Shape 9"/>
          <p:cNvSpPr/>
          <p:nvPr/>
        </p:nvSpPr>
        <p:spPr>
          <a:xfrm>
            <a:off x="1577340" y="4023360"/>
            <a:ext cx="2103120" cy="320040"/>
          </a:xfrm>
          <a:prstGeom prst="roundRect">
            <a:avLst>
              <a:gd name="adj" fmla="val 50000"/>
            </a:avLst>
          </a:prstGeom>
          <a:solidFill>
            <a:srgbClr val="0B3D7A"/>
          </a:solidFill>
          <a:ln/>
        </p:spPr>
      </p:sp>
      <p:sp>
        <p:nvSpPr>
          <p:cNvPr id="16" name="Text 10"/>
          <p:cNvSpPr/>
          <p:nvPr/>
        </p:nvSpPr>
        <p:spPr>
          <a:xfrm>
            <a:off x="1577340" y="4023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9 in this cohort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822960" y="4526280"/>
            <a:ext cx="3611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Hands-on driver embedded inside real PA/IA/BA firmware work. Pilots Copilot, SDD and MCP workflows on live repositories, surfaces blockers, and sets the local example for “what good looks like.”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5029200" y="2286000"/>
            <a:ext cx="4160520" cy="4160520"/>
          </a:xfrm>
          <a:prstGeom prst="roundRect">
            <a:avLst>
              <a:gd name="adj" fmla="val 1978"/>
            </a:avLst>
          </a:prstGeom>
          <a:solidFill>
            <a:srgbClr val="F4F6FD"/>
          </a:solidFill>
          <a:ln w="12700">
            <a:solidFill>
              <a:srgbClr val="0B3D7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697980" y="2606040"/>
            <a:ext cx="822960" cy="822960"/>
          </a:xfrm>
          <a:prstGeom prst="ellipse">
            <a:avLst/>
          </a:prstGeom>
          <a:solidFill>
            <a:srgbClr val="5B5FA6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20" name="Image 4" descr="/home/claude/work/icons/handshak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5490" y="2803550"/>
            <a:ext cx="427939" cy="427939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212080" y="356616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Evangelist</a:t>
            </a:r>
            <a:endParaRPr lang="en-US" sz="1700" dirty="0"/>
          </a:p>
        </p:txBody>
      </p:sp>
      <p:sp>
        <p:nvSpPr>
          <p:cNvPr id="22" name="Shape 15"/>
          <p:cNvSpPr/>
          <p:nvPr/>
        </p:nvSpPr>
        <p:spPr>
          <a:xfrm>
            <a:off x="6057900" y="4023360"/>
            <a:ext cx="2103120" cy="320040"/>
          </a:xfrm>
          <a:prstGeom prst="roundRect">
            <a:avLst>
              <a:gd name="adj" fmla="val 50000"/>
            </a:avLst>
          </a:prstGeom>
          <a:solidFill>
            <a:srgbClr val="5B5FA6"/>
          </a:solidFill>
          <a:ln/>
        </p:spPr>
      </p:sp>
      <p:sp>
        <p:nvSpPr>
          <p:cNvPr id="23" name="Text 16"/>
          <p:cNvSpPr/>
          <p:nvPr/>
        </p:nvSpPr>
        <p:spPr>
          <a:xfrm>
            <a:off x="6057900" y="4023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Emerging from participants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5303520" y="4526280"/>
            <a:ext cx="3611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Peer-level influence. Shares wins and lessons from pilots, helps colleagues past first-attempt friction, and feeds practical feedback into the Champion network.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9509760" y="2286000"/>
            <a:ext cx="4160520" cy="4160520"/>
          </a:xfrm>
          <a:prstGeom prst="roundRect">
            <a:avLst>
              <a:gd name="adj" fmla="val 1978"/>
            </a:avLst>
          </a:prstGeom>
          <a:solidFill>
            <a:srgbClr val="F4F6FD"/>
          </a:solidFill>
          <a:ln w="12700">
            <a:solidFill>
              <a:srgbClr val="0B3D7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11178540" y="2606040"/>
            <a:ext cx="822960" cy="822960"/>
          </a:xfrm>
          <a:prstGeom prst="ellipse">
            <a:avLst/>
          </a:prstGeom>
          <a:solidFill>
            <a:srgbClr val="F15719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27" name="Image 5" descr="/home/claude/work/icons/shieldcheck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76050" y="2803550"/>
            <a:ext cx="427939" cy="427939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692640" y="356616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Sponsor</a:t>
            </a:r>
            <a:endParaRPr lang="en-US" sz="1700" dirty="0"/>
          </a:p>
        </p:txBody>
      </p:sp>
      <p:sp>
        <p:nvSpPr>
          <p:cNvPr id="29" name="Shape 21"/>
          <p:cNvSpPr/>
          <p:nvPr/>
        </p:nvSpPr>
        <p:spPr>
          <a:xfrm>
            <a:off x="10538460" y="4023360"/>
            <a:ext cx="2103120" cy="320040"/>
          </a:xfrm>
          <a:prstGeom prst="roundRect">
            <a:avLst>
              <a:gd name="adj" fmla="val 50000"/>
            </a:avLst>
          </a:prstGeom>
          <a:solidFill>
            <a:srgbClr val="F15719"/>
          </a:solidFill>
          <a:ln/>
        </p:spPr>
      </p:sp>
      <p:sp>
        <p:nvSpPr>
          <p:cNvPr id="30" name="Text 22"/>
          <p:cNvSpPr/>
          <p:nvPr/>
        </p:nvSpPr>
        <p:spPr>
          <a:xfrm>
            <a:off x="10538460" y="4023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Engineering leadership</a:t>
            </a:r>
            <a:endParaRPr lang="en-US" sz="1050" dirty="0"/>
          </a:p>
        </p:txBody>
      </p:sp>
      <p:sp>
        <p:nvSpPr>
          <p:cNvPr id="31" name="Text 23"/>
          <p:cNvSpPr/>
          <p:nvPr/>
        </p:nvSpPr>
        <p:spPr>
          <a:xfrm>
            <a:off x="9784080" y="4526280"/>
            <a:ext cx="3611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Removes organisational blockers — tooling access, procurement (Copilot Enterprise seats, Agent Prism), governance sign-off — and protects time for the programme.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548640" y="6720840"/>
            <a:ext cx="13533120" cy="777240"/>
          </a:xfrm>
          <a:prstGeom prst="roundRect">
            <a:avLst>
              <a:gd name="adj" fmla="val 10588"/>
            </a:avLst>
          </a:prstGeom>
          <a:solidFill>
            <a:srgbClr val="FBEDD8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33" name="Text 25"/>
          <p:cNvSpPr/>
          <p:nvPr/>
        </p:nvSpPr>
        <p:spPr>
          <a:xfrm>
            <a:off x="822960" y="6720840"/>
            <a:ext cx="1298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B9760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Cohort reality: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19 of 28 participants join today as General Participants. Part of this module's job is turning a share of them into tomorrow's Evangelists — not just running Champions through content.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Image 1" descr="/home/claude/work/staroute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0" y="201168"/>
            <a:ext cx="2514600" cy="501091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896112"/>
            <a:ext cx="14630400" cy="646480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548640" y="25603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CHAMPIONS PROGRAMME  |  MODULE 01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548640" y="1060704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What “Good” Looks Like, By Role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548640" y="1700784"/>
            <a:ext cx="1353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Common foundation for everyone; deeper hands-on emphasis for the technical roles.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6035040" y="7699248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HONEYWELL EMBEDDED ENGINEERING • AI CHAMPIONS PROGRAMME — MODULE 01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13121640" y="7452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07 / 14</a:t>
            </a:r>
            <a:endParaRPr lang="en-US" sz="1050" dirty="0"/>
          </a:p>
        </p:txBody>
      </p:sp>
      <p:pic>
        <p:nvPicPr>
          <p:cNvPr id="10" name="Image 2" descr="/home/claude/work/niit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0280" y="7479792"/>
            <a:ext cx="603504" cy="349301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48640" y="2194560"/>
            <a:ext cx="662940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786384" y="2569464"/>
            <a:ext cx="731520" cy="731520"/>
          </a:xfrm>
          <a:prstGeom prst="ellipse">
            <a:avLst/>
          </a:prstGeom>
          <a:solidFill>
            <a:srgbClr val="0B3D7A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13" name="Image 3" descr="/home/claude/work/icons/scaney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949" y="2745029"/>
            <a:ext cx="380390" cy="38039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691640" y="2395728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Architects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1691640" y="2779776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Judge where AI-assisted change is safe against firmware architecture, HAL boundaries &amp; interface contracts.</a:t>
            </a:r>
            <a:endParaRPr lang="en-US" sz="1180" dirty="0"/>
          </a:p>
        </p:txBody>
      </p:sp>
      <p:sp>
        <p:nvSpPr>
          <p:cNvPr id="16" name="Shape 10"/>
          <p:cNvSpPr/>
          <p:nvPr/>
        </p:nvSpPr>
        <p:spPr>
          <a:xfrm>
            <a:off x="6080760" y="239572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DADBF1"/>
          </a:solidFill>
          <a:ln/>
        </p:spPr>
      </p:sp>
      <p:sp>
        <p:nvSpPr>
          <p:cNvPr id="17" name="Text 11"/>
          <p:cNvSpPr/>
          <p:nvPr/>
        </p:nvSpPr>
        <p:spPr>
          <a:xfrm>
            <a:off x="6080760" y="2395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5FA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DEEP-DIVE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7452360" y="2194560"/>
            <a:ext cx="662940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690104" y="2569464"/>
            <a:ext cx="731520" cy="731520"/>
          </a:xfrm>
          <a:prstGeom prst="ellipse">
            <a:avLst/>
          </a:prstGeom>
          <a:solidFill>
            <a:srgbClr val="0B3D7A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20" name="Image 4" descr="/home/claude/work/icons/terminal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5669" y="2745029"/>
            <a:ext cx="380390" cy="38039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595360" y="2395728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Embedded / Firmware Developers</a:t>
            </a:r>
            <a:endParaRPr lang="en-US" sz="1550" dirty="0"/>
          </a:p>
        </p:txBody>
      </p:sp>
      <p:sp>
        <p:nvSpPr>
          <p:cNvPr id="22" name="Text 15"/>
          <p:cNvSpPr/>
          <p:nvPr/>
        </p:nvSpPr>
        <p:spPr>
          <a:xfrm>
            <a:off x="8595360" y="2779776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Drive Copilot + SDD end-to-end on real C/C++ repositories — greenfield build and brownfield enhancement.</a:t>
            </a:r>
            <a:endParaRPr lang="en-US" sz="1180" dirty="0"/>
          </a:p>
        </p:txBody>
      </p:sp>
      <p:sp>
        <p:nvSpPr>
          <p:cNvPr id="23" name="Shape 16"/>
          <p:cNvSpPr/>
          <p:nvPr/>
        </p:nvSpPr>
        <p:spPr>
          <a:xfrm>
            <a:off x="12984480" y="239572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DADBF1"/>
          </a:solidFill>
          <a:ln/>
        </p:spPr>
      </p:sp>
      <p:sp>
        <p:nvSpPr>
          <p:cNvPr id="24" name="Text 17"/>
          <p:cNvSpPr/>
          <p:nvPr/>
        </p:nvSpPr>
        <p:spPr>
          <a:xfrm>
            <a:off x="12984480" y="2395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5FA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DEEP-DIVE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548640" y="3931920"/>
            <a:ext cx="662940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786384" y="4306824"/>
            <a:ext cx="731520" cy="731520"/>
          </a:xfrm>
          <a:prstGeom prst="ellipse">
            <a:avLst/>
          </a:prstGeom>
          <a:solidFill>
            <a:srgbClr val="0B3D7A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27" name="Image 5" descr="/home/claude/work/icons/flask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949" y="4482389"/>
            <a:ext cx="380390" cy="38039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691640" y="4133088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Testers</a:t>
            </a:r>
            <a:endParaRPr lang="en-US" sz="1550" dirty="0"/>
          </a:p>
        </p:txBody>
      </p:sp>
      <p:sp>
        <p:nvSpPr>
          <p:cNvPr id="29" name="Text 21"/>
          <p:cNvSpPr/>
          <p:nvPr/>
        </p:nvSpPr>
        <p:spPr>
          <a:xfrm>
            <a:off x="1691640" y="4517136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Own the embedded test strategy that proves SDD-developed features preserve behaviour and meet acceptance criteria.</a:t>
            </a:r>
            <a:endParaRPr lang="en-US" sz="1180" dirty="0"/>
          </a:p>
        </p:txBody>
      </p:sp>
      <p:sp>
        <p:nvSpPr>
          <p:cNvPr id="30" name="Shape 22"/>
          <p:cNvSpPr/>
          <p:nvPr/>
        </p:nvSpPr>
        <p:spPr>
          <a:xfrm>
            <a:off x="6080760" y="413308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DADBF1"/>
          </a:solidFill>
          <a:ln/>
        </p:spPr>
      </p:sp>
      <p:sp>
        <p:nvSpPr>
          <p:cNvPr id="31" name="Text 23"/>
          <p:cNvSpPr/>
          <p:nvPr/>
        </p:nvSpPr>
        <p:spPr>
          <a:xfrm>
            <a:off x="6080760" y="4133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5FA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DEEP-DIVE</a:t>
            </a:r>
            <a:endParaRPr lang="en-US" sz="900" dirty="0"/>
          </a:p>
        </p:txBody>
      </p:sp>
      <p:sp>
        <p:nvSpPr>
          <p:cNvPr id="32" name="Shape 24"/>
          <p:cNvSpPr/>
          <p:nvPr/>
        </p:nvSpPr>
        <p:spPr>
          <a:xfrm>
            <a:off x="7452360" y="3931920"/>
            <a:ext cx="662940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7690104" y="4306824"/>
            <a:ext cx="731520" cy="731520"/>
          </a:xfrm>
          <a:prstGeom prst="ellipse">
            <a:avLst/>
          </a:prstGeom>
          <a:solidFill>
            <a:srgbClr val="0B3D7A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34" name="Image 6" descr="/home/claude/work/icons/settings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5669" y="4482389"/>
            <a:ext cx="380390" cy="38039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595360" y="4133088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DevOps / SRE</a:t>
            </a:r>
            <a:endParaRPr lang="en-US" sz="1550" dirty="0"/>
          </a:p>
        </p:txBody>
      </p:sp>
      <p:sp>
        <p:nvSpPr>
          <p:cNvPr id="36" name="Text 27"/>
          <p:cNvSpPr/>
          <p:nvPr/>
        </p:nvSpPr>
        <p:spPr>
          <a:xfrm>
            <a:off x="8595360" y="4517136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Wire MCP-enabled workflows into build/test/CI safely, with governed tool permissions and failure handling.</a:t>
            </a:r>
            <a:endParaRPr lang="en-US" sz="1180" dirty="0"/>
          </a:p>
        </p:txBody>
      </p:sp>
      <p:sp>
        <p:nvSpPr>
          <p:cNvPr id="37" name="Shape 28"/>
          <p:cNvSpPr/>
          <p:nvPr/>
        </p:nvSpPr>
        <p:spPr>
          <a:xfrm>
            <a:off x="12984480" y="413308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DADBF1"/>
          </a:solidFill>
          <a:ln/>
        </p:spPr>
      </p:sp>
      <p:sp>
        <p:nvSpPr>
          <p:cNvPr id="38" name="Text 29"/>
          <p:cNvSpPr/>
          <p:nvPr/>
        </p:nvSpPr>
        <p:spPr>
          <a:xfrm>
            <a:off x="12984480" y="4133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5FA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DEEP-DIVE</a:t>
            </a:r>
            <a:endParaRPr lang="en-US" sz="900" dirty="0"/>
          </a:p>
        </p:txBody>
      </p:sp>
      <p:sp>
        <p:nvSpPr>
          <p:cNvPr id="39" name="Shape 30"/>
          <p:cNvSpPr/>
          <p:nvPr/>
        </p:nvSpPr>
        <p:spPr>
          <a:xfrm>
            <a:off x="548640" y="5669280"/>
            <a:ext cx="662940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786384" y="6044184"/>
            <a:ext cx="731520" cy="731520"/>
          </a:xfrm>
          <a:prstGeom prst="ellipse">
            <a:avLst/>
          </a:prstGeom>
          <a:solidFill>
            <a:srgbClr val="0B3D7A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41" name="Image 7" descr="/home/claude/work/icons/compass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1949" y="6219749"/>
            <a:ext cx="380390" cy="38039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1691640" y="5870448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Engineering Leads</a:t>
            </a:r>
            <a:endParaRPr lang="en-US" sz="1550" dirty="0"/>
          </a:p>
        </p:txBody>
      </p:sp>
      <p:sp>
        <p:nvSpPr>
          <p:cNvPr id="43" name="Text 33"/>
          <p:cNvSpPr/>
          <p:nvPr/>
        </p:nvSpPr>
        <p:spPr>
          <a:xfrm>
            <a:off x="1691640" y="6254496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Set adoption pace, own the ROI/governance conversation, and translate Agent Prism signals into decisions.</a:t>
            </a:r>
            <a:endParaRPr lang="en-US" sz="1180" dirty="0"/>
          </a:p>
        </p:txBody>
      </p:sp>
      <p:sp>
        <p:nvSpPr>
          <p:cNvPr id="44" name="Shape 34"/>
          <p:cNvSpPr/>
          <p:nvPr/>
        </p:nvSpPr>
        <p:spPr>
          <a:xfrm>
            <a:off x="6080760" y="587044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DADBF1"/>
          </a:solidFill>
          <a:ln/>
        </p:spPr>
      </p:sp>
      <p:sp>
        <p:nvSpPr>
          <p:cNvPr id="45" name="Text 35"/>
          <p:cNvSpPr/>
          <p:nvPr/>
        </p:nvSpPr>
        <p:spPr>
          <a:xfrm>
            <a:off x="6080760" y="58704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5FA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DEEP-DIVE</a:t>
            </a:r>
            <a:endParaRPr lang="en-US" sz="900" dirty="0"/>
          </a:p>
        </p:txBody>
      </p:sp>
      <p:sp>
        <p:nvSpPr>
          <p:cNvPr id="46" name="Shape 36"/>
          <p:cNvSpPr/>
          <p:nvPr/>
        </p:nvSpPr>
        <p:spPr>
          <a:xfrm>
            <a:off x="7452360" y="5669280"/>
            <a:ext cx="6629400" cy="1481328"/>
          </a:xfrm>
          <a:prstGeom prst="roundRect">
            <a:avLst>
              <a:gd name="adj" fmla="val 5556"/>
            </a:avLst>
          </a:prstGeom>
          <a:solidFill>
            <a:srgbClr val="F7F7FB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47" name="Shape 37"/>
          <p:cNvSpPr/>
          <p:nvPr/>
        </p:nvSpPr>
        <p:spPr>
          <a:xfrm>
            <a:off x="7690104" y="6044184"/>
            <a:ext cx="731520" cy="731520"/>
          </a:xfrm>
          <a:prstGeom prst="ellipse">
            <a:avLst/>
          </a:prstGeom>
          <a:solidFill>
            <a:srgbClr val="5B5FA6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48" name="Image 8" descr="/home/claude/work/icons/users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65669" y="6219749"/>
            <a:ext cx="380390" cy="380390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8595360" y="5870448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Program / Product Roles</a:t>
            </a:r>
            <a:endParaRPr lang="en-US" sz="1550" dirty="0"/>
          </a:p>
        </p:txBody>
      </p:sp>
      <p:sp>
        <p:nvSpPr>
          <p:cNvPr id="50" name="Text 39"/>
          <p:cNvSpPr/>
          <p:nvPr/>
        </p:nvSpPr>
        <p:spPr>
          <a:xfrm>
            <a:off x="8595360" y="6254496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Share the common foundation — enterprise context, risk awareness, success metrics — without the deep technical labs.</a:t>
            </a:r>
            <a:endParaRPr lang="en-US" sz="11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Image 1" descr="/home/claude/work/staroute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0" y="201168"/>
            <a:ext cx="2514600" cy="501091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896112"/>
            <a:ext cx="14630400" cy="646480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548640" y="25603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CHAMPIONS PROGRAMME  |  MODULE 01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548640" y="1060704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The Embedded Delivery Lifecycle — Where It Hurts Today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548640" y="1700784"/>
            <a:ext cx="1353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Every stage participants named in past retros maps to a business problem this programme is built to solve.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6035040" y="7699248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HONEYWELL EMBEDDED ENGINEERING • AI CHAMPIONS PROGRAMME — MODULE 01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13121640" y="7452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08 / 14</a:t>
            </a:r>
            <a:endParaRPr lang="en-US" sz="1050" dirty="0"/>
          </a:p>
        </p:txBody>
      </p:sp>
      <p:pic>
        <p:nvPicPr>
          <p:cNvPr id="10" name="Image 2" descr="/home/claude/work/niit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0280" y="7479792"/>
            <a:ext cx="603504" cy="349301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485900" y="3131820"/>
            <a:ext cx="11658600" cy="0"/>
          </a:xfrm>
          <a:prstGeom prst="line">
            <a:avLst/>
          </a:prstGeom>
          <a:noFill/>
          <a:ln w="38100">
            <a:solidFill>
              <a:srgbClr val="B7B9E4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548640" y="2423160"/>
            <a:ext cx="1874520" cy="1417320"/>
          </a:xfrm>
          <a:prstGeom prst="roundRect">
            <a:avLst>
              <a:gd name="adj" fmla="val 6452"/>
            </a:avLst>
          </a:prstGeom>
          <a:solidFill>
            <a:srgbClr val="0B3D7A"/>
          </a:solidFill>
          <a:ln/>
          <a:effectLst>
            <a:outerShdw sx="100000" sy="100000" kx="0" ky="0" algn="bl" rotWithShape="0" blurRad="63500" dist="25400" dir="5400000">
              <a:srgbClr val="1A1A2E">
                <a:alpha val="20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1193292" y="2569464"/>
            <a:ext cx="585216" cy="585216"/>
          </a:xfrm>
          <a:prstGeom prst="ellipse">
            <a:avLst/>
          </a:prstGeom>
          <a:solidFill>
            <a:srgbClr val="F15719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14" name="Image 3" descr="/home/claude/work/icons/filecod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744" y="2709916"/>
            <a:ext cx="304312" cy="30431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48640" y="3209544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Requirements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&amp; Spec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2569464" y="3049524"/>
            <a:ext cx="164592" cy="164592"/>
          </a:xfrm>
          <a:prstGeom prst="ellipse">
            <a:avLst/>
          </a:prstGeom>
          <a:solidFill>
            <a:srgbClr val="5B5FA6"/>
          </a:solidFill>
          <a:ln/>
        </p:spPr>
      </p:sp>
      <p:sp>
        <p:nvSpPr>
          <p:cNvPr id="17" name="Shape 11"/>
          <p:cNvSpPr/>
          <p:nvPr/>
        </p:nvSpPr>
        <p:spPr>
          <a:xfrm>
            <a:off x="502920" y="4069080"/>
            <a:ext cx="1965960" cy="2148840"/>
          </a:xfrm>
          <a:prstGeom prst="roundRect">
            <a:avLst>
              <a:gd name="adj" fmla="val 4186"/>
            </a:avLst>
          </a:prstGeom>
          <a:solidFill>
            <a:srgbClr val="F7F7FB"/>
          </a:solidFill>
          <a:ln w="12700">
            <a:solidFill>
              <a:srgbClr val="E4E4F0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594360" y="4206240"/>
            <a:ext cx="1783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Weak translation of embedded requirements &amp; acceptance criteria into implementation-ready tasks.</a:t>
            </a:r>
            <a:endParaRPr lang="en-US" sz="1030" dirty="0"/>
          </a:p>
        </p:txBody>
      </p:sp>
      <p:sp>
        <p:nvSpPr>
          <p:cNvPr id="19" name="Shape 13"/>
          <p:cNvSpPr/>
          <p:nvPr/>
        </p:nvSpPr>
        <p:spPr>
          <a:xfrm>
            <a:off x="2880360" y="2423160"/>
            <a:ext cx="1874520" cy="1417320"/>
          </a:xfrm>
          <a:prstGeom prst="roundRect">
            <a:avLst>
              <a:gd name="adj" fmla="val 6452"/>
            </a:avLst>
          </a:prstGeom>
          <a:solidFill>
            <a:srgbClr val="0B3D7A"/>
          </a:solidFill>
          <a:ln/>
          <a:effectLst>
            <a:outerShdw sx="100000" sy="100000" kx="0" ky="0" algn="bl" rotWithShape="0" blurRad="63500" dist="25400" dir="5400000">
              <a:srgbClr val="1A1A2E">
                <a:alpha val="2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3525012" y="2569464"/>
            <a:ext cx="585216" cy="585216"/>
          </a:xfrm>
          <a:prstGeom prst="ellipse">
            <a:avLst/>
          </a:prstGeom>
          <a:solidFill>
            <a:srgbClr val="F15719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21" name="Image 4" descr="/home/claude/work/icons/circuitboard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5464" y="2709916"/>
            <a:ext cx="304312" cy="30431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2880360" y="3209544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Architecture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&amp; HAL Design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4901184" y="3049524"/>
            <a:ext cx="164592" cy="164592"/>
          </a:xfrm>
          <a:prstGeom prst="ellipse">
            <a:avLst/>
          </a:prstGeom>
          <a:solidFill>
            <a:srgbClr val="5B5FA6"/>
          </a:solidFill>
          <a:ln/>
        </p:spPr>
      </p:sp>
      <p:sp>
        <p:nvSpPr>
          <p:cNvPr id="24" name="Shape 17"/>
          <p:cNvSpPr/>
          <p:nvPr/>
        </p:nvSpPr>
        <p:spPr>
          <a:xfrm>
            <a:off x="2834640" y="4069080"/>
            <a:ext cx="1965960" cy="2148840"/>
          </a:xfrm>
          <a:prstGeom prst="roundRect">
            <a:avLst>
              <a:gd name="adj" fmla="val 4186"/>
            </a:avLst>
          </a:prstGeom>
          <a:solidFill>
            <a:srgbClr val="F7F7FB"/>
          </a:solidFill>
          <a:ln w="12700">
            <a:solidFill>
              <a:srgbClr val="E4E4F0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2926080" y="4206240"/>
            <a:ext cx="1783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Design intent for interfaces, drivers &amp; state machines lives in people's heads, not context AI can use.</a:t>
            </a:r>
            <a:endParaRPr lang="en-US" sz="1030" dirty="0"/>
          </a:p>
        </p:txBody>
      </p:sp>
      <p:sp>
        <p:nvSpPr>
          <p:cNvPr id="26" name="Shape 19"/>
          <p:cNvSpPr/>
          <p:nvPr/>
        </p:nvSpPr>
        <p:spPr>
          <a:xfrm>
            <a:off x="5212080" y="2423160"/>
            <a:ext cx="1874520" cy="1417320"/>
          </a:xfrm>
          <a:prstGeom prst="roundRect">
            <a:avLst>
              <a:gd name="adj" fmla="val 6452"/>
            </a:avLst>
          </a:prstGeom>
          <a:solidFill>
            <a:srgbClr val="0B3D7A"/>
          </a:solidFill>
          <a:ln/>
          <a:effectLst>
            <a:outerShdw sx="100000" sy="100000" kx="0" ky="0" algn="bl" rotWithShape="0" blurRad="63500" dist="25400" dir="5400000">
              <a:srgbClr val="1A1A2E">
                <a:alpha val="2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5856732" y="2569464"/>
            <a:ext cx="585216" cy="585216"/>
          </a:xfrm>
          <a:prstGeom prst="ellipse">
            <a:avLst/>
          </a:prstGeom>
          <a:solidFill>
            <a:srgbClr val="F15719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28" name="Image 5" descr="/home/claude/work/icons/microchip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7184" y="2709916"/>
            <a:ext cx="304312" cy="30431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212080" y="3209544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C/C++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Implementation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7232904" y="3049524"/>
            <a:ext cx="164592" cy="164592"/>
          </a:xfrm>
          <a:prstGeom prst="ellipse">
            <a:avLst/>
          </a:prstGeom>
          <a:solidFill>
            <a:srgbClr val="5B5FA6"/>
          </a:solidFill>
          <a:ln/>
        </p:spPr>
      </p:sp>
      <p:sp>
        <p:nvSpPr>
          <p:cNvPr id="31" name="Shape 23"/>
          <p:cNvSpPr/>
          <p:nvPr/>
        </p:nvSpPr>
        <p:spPr>
          <a:xfrm>
            <a:off x="5166360" y="4069080"/>
            <a:ext cx="1965960" cy="2148840"/>
          </a:xfrm>
          <a:prstGeom prst="roundRect">
            <a:avLst>
              <a:gd name="adj" fmla="val 4186"/>
            </a:avLst>
          </a:prstGeom>
          <a:solidFill>
            <a:srgbClr val="F7F7FB"/>
          </a:solidFill>
          <a:ln w="12700">
            <a:solidFill>
              <a:srgbClr val="E4E4F0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5257800" y="4206240"/>
            <a:ext cx="1783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Repetitive code analysis and firmware changes consume senior engineers' highest-value time.</a:t>
            </a:r>
            <a:endParaRPr lang="en-US" sz="1030" dirty="0"/>
          </a:p>
        </p:txBody>
      </p:sp>
      <p:sp>
        <p:nvSpPr>
          <p:cNvPr id="33" name="Shape 25"/>
          <p:cNvSpPr/>
          <p:nvPr/>
        </p:nvSpPr>
        <p:spPr>
          <a:xfrm>
            <a:off x="7543800" y="2423160"/>
            <a:ext cx="1874520" cy="1417320"/>
          </a:xfrm>
          <a:prstGeom prst="roundRect">
            <a:avLst>
              <a:gd name="adj" fmla="val 6452"/>
            </a:avLst>
          </a:prstGeom>
          <a:solidFill>
            <a:srgbClr val="0B3D7A"/>
          </a:solidFill>
          <a:ln/>
          <a:effectLst>
            <a:outerShdw sx="100000" sy="100000" kx="0" ky="0" algn="bl" rotWithShape="0" blurRad="63500" dist="25400" dir="5400000">
              <a:srgbClr val="1A1A2E">
                <a:alpha val="20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8188452" y="2569464"/>
            <a:ext cx="585216" cy="585216"/>
          </a:xfrm>
          <a:prstGeom prst="ellipse">
            <a:avLst/>
          </a:prstGeom>
          <a:solidFill>
            <a:srgbClr val="F15719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35" name="Image 6" descr="/home/claude/work/icons/wrench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8904" y="2709916"/>
            <a:ext cx="304312" cy="304312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7543800" y="3209544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Build &amp;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Toolchain</a:t>
            </a:r>
            <a:endParaRPr lang="en-US" sz="1150" dirty="0"/>
          </a:p>
        </p:txBody>
      </p:sp>
      <p:sp>
        <p:nvSpPr>
          <p:cNvPr id="37" name="Shape 28"/>
          <p:cNvSpPr/>
          <p:nvPr/>
        </p:nvSpPr>
        <p:spPr>
          <a:xfrm>
            <a:off x="9564624" y="3049524"/>
            <a:ext cx="164592" cy="164592"/>
          </a:xfrm>
          <a:prstGeom prst="ellipse">
            <a:avLst/>
          </a:prstGeom>
          <a:solidFill>
            <a:srgbClr val="5B5FA6"/>
          </a:solidFill>
          <a:ln/>
        </p:spPr>
      </p:sp>
      <p:sp>
        <p:nvSpPr>
          <p:cNvPr id="38" name="Shape 29"/>
          <p:cNvSpPr/>
          <p:nvPr/>
        </p:nvSpPr>
        <p:spPr>
          <a:xfrm>
            <a:off x="7498080" y="4069080"/>
            <a:ext cx="1965960" cy="2148840"/>
          </a:xfrm>
          <a:prstGeom prst="roundRect">
            <a:avLst>
              <a:gd name="adj" fmla="val 4186"/>
            </a:avLst>
          </a:prstGeom>
          <a:solidFill>
            <a:srgbClr val="F7F7FB"/>
          </a:solidFill>
          <a:ln w="12700">
            <a:solidFill>
              <a:srgbClr val="E4E4F0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7589520" y="4206240"/>
            <a:ext cx="1783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Closed-source vendor toolchains give AI little to learn from — low Copilot reliability here.</a:t>
            </a:r>
            <a:endParaRPr lang="en-US" sz="1030" dirty="0"/>
          </a:p>
        </p:txBody>
      </p:sp>
      <p:sp>
        <p:nvSpPr>
          <p:cNvPr id="40" name="Shape 31"/>
          <p:cNvSpPr/>
          <p:nvPr/>
        </p:nvSpPr>
        <p:spPr>
          <a:xfrm>
            <a:off x="9875520" y="2423160"/>
            <a:ext cx="1874520" cy="1417320"/>
          </a:xfrm>
          <a:prstGeom prst="roundRect">
            <a:avLst>
              <a:gd name="adj" fmla="val 6452"/>
            </a:avLst>
          </a:prstGeom>
          <a:solidFill>
            <a:srgbClr val="0B3D7A"/>
          </a:solidFill>
          <a:ln/>
          <a:effectLst>
            <a:outerShdw sx="100000" sy="100000" kx="0" ky="0" algn="bl" rotWithShape="0" blurRad="63500" dist="25400" dir="5400000">
              <a:srgbClr val="1A1A2E">
                <a:alpha val="20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10520172" y="2569464"/>
            <a:ext cx="585216" cy="585216"/>
          </a:xfrm>
          <a:prstGeom prst="ellipse">
            <a:avLst/>
          </a:prstGeom>
          <a:solidFill>
            <a:srgbClr val="F15719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42" name="Image 7" descr="/home/claude/work/icons/flask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0624" y="2709916"/>
            <a:ext cx="304312" cy="304312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875520" y="3209544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Test &amp;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Validation</a:t>
            </a:r>
            <a:endParaRPr lang="en-US" sz="1150" dirty="0"/>
          </a:p>
        </p:txBody>
      </p:sp>
      <p:sp>
        <p:nvSpPr>
          <p:cNvPr id="44" name="Shape 34"/>
          <p:cNvSpPr/>
          <p:nvPr/>
        </p:nvSpPr>
        <p:spPr>
          <a:xfrm>
            <a:off x="11896344" y="3049524"/>
            <a:ext cx="164592" cy="164592"/>
          </a:xfrm>
          <a:prstGeom prst="ellipse">
            <a:avLst/>
          </a:prstGeom>
          <a:solidFill>
            <a:srgbClr val="5B5FA6"/>
          </a:solidFill>
          <a:ln/>
        </p:spPr>
      </p:sp>
      <p:sp>
        <p:nvSpPr>
          <p:cNvPr id="45" name="Shape 35"/>
          <p:cNvSpPr/>
          <p:nvPr/>
        </p:nvSpPr>
        <p:spPr>
          <a:xfrm>
            <a:off x="9829800" y="4069080"/>
            <a:ext cx="1965960" cy="2148840"/>
          </a:xfrm>
          <a:prstGeom prst="roundRect">
            <a:avLst>
              <a:gd name="adj" fmla="val 4186"/>
            </a:avLst>
          </a:prstGeom>
          <a:solidFill>
            <a:srgbClr val="F7F7FB"/>
          </a:solidFill>
          <a:ln w="12700">
            <a:solidFill>
              <a:srgbClr val="E4E4F0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9921240" y="4206240"/>
            <a:ext cx="1783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Manual test creation and defect triage are slow; regression risk is hard to see in brownfield code.</a:t>
            </a:r>
            <a:endParaRPr lang="en-US" sz="1030" dirty="0"/>
          </a:p>
        </p:txBody>
      </p:sp>
      <p:sp>
        <p:nvSpPr>
          <p:cNvPr id="47" name="Shape 37"/>
          <p:cNvSpPr/>
          <p:nvPr/>
        </p:nvSpPr>
        <p:spPr>
          <a:xfrm>
            <a:off x="12207240" y="2423160"/>
            <a:ext cx="1874520" cy="1417320"/>
          </a:xfrm>
          <a:prstGeom prst="roundRect">
            <a:avLst>
              <a:gd name="adj" fmla="val 6452"/>
            </a:avLst>
          </a:prstGeom>
          <a:solidFill>
            <a:srgbClr val="0B3D7A"/>
          </a:solidFill>
          <a:ln/>
          <a:effectLst>
            <a:outerShdw sx="100000" sy="100000" kx="0" ky="0" algn="bl" rotWithShape="0" blurRad="63500" dist="25400" dir="5400000">
              <a:srgbClr val="1A1A2E">
                <a:alpha val="20000"/>
              </a:srgbClr>
            </a:outerShdw>
          </a:effectLst>
        </p:spPr>
      </p:sp>
      <p:sp>
        <p:nvSpPr>
          <p:cNvPr id="48" name="Shape 38"/>
          <p:cNvSpPr/>
          <p:nvPr/>
        </p:nvSpPr>
        <p:spPr>
          <a:xfrm>
            <a:off x="12851892" y="2569464"/>
            <a:ext cx="585216" cy="585216"/>
          </a:xfrm>
          <a:prstGeom prst="ellipse">
            <a:avLst/>
          </a:prstGeom>
          <a:solidFill>
            <a:srgbClr val="F15719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49" name="Image 8" descr="/home/claude/work/icons/gitpr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92344" y="2709916"/>
            <a:ext cx="304312" cy="304312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12207240" y="3209544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 Review</a:t>
            </a:r>
            <a:endParaRPr lang="en-US" sz="1150" dirty="0"/>
          </a:p>
        </p:txBody>
      </p:sp>
      <p:sp>
        <p:nvSpPr>
          <p:cNvPr id="51" name="Shape 40"/>
          <p:cNvSpPr/>
          <p:nvPr/>
        </p:nvSpPr>
        <p:spPr>
          <a:xfrm>
            <a:off x="12161520" y="4069080"/>
            <a:ext cx="1965960" cy="2148840"/>
          </a:xfrm>
          <a:prstGeom prst="roundRect">
            <a:avLst>
              <a:gd name="adj" fmla="val 4186"/>
            </a:avLst>
          </a:prstGeom>
          <a:solidFill>
            <a:srgbClr val="F7F7FB"/>
          </a:solidFill>
          <a:ln w="12700">
            <a:solidFill>
              <a:srgbClr val="E4E4F0"/>
            </a:solidFill>
            <a:prstDash val="solid"/>
          </a:ln>
        </p:spPr>
      </p:sp>
      <p:sp>
        <p:nvSpPr>
          <p:cNvPr id="52" name="Text 41"/>
          <p:cNvSpPr/>
          <p:nvPr/>
        </p:nvSpPr>
        <p:spPr>
          <a:xfrm>
            <a:off x="12252960" y="4206240"/>
            <a:ext cx="1783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Manual, inconsistent review — hard to prove changes satisfy requirements and preserve behaviour.</a:t>
            </a:r>
            <a:endParaRPr lang="en-US" sz="1030" dirty="0"/>
          </a:p>
        </p:txBody>
      </p:sp>
      <p:sp>
        <p:nvSpPr>
          <p:cNvPr id="53" name="Shape 42"/>
          <p:cNvSpPr/>
          <p:nvPr/>
        </p:nvSpPr>
        <p:spPr>
          <a:xfrm>
            <a:off x="548640" y="6355080"/>
            <a:ext cx="13533120" cy="777240"/>
          </a:xfrm>
          <a:prstGeom prst="roundRect">
            <a:avLst>
              <a:gd name="adj" fmla="val 10588"/>
            </a:avLst>
          </a:prstGeom>
          <a:solidFill>
            <a:srgbClr val="F4F6FD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54" name="Text 43"/>
          <p:cNvSpPr/>
          <p:nvPr/>
        </p:nvSpPr>
        <p:spPr>
          <a:xfrm>
            <a:off x="822960" y="6355080"/>
            <a:ext cx="1298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The throughline: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Every one of these six friction points is a named “business problem this programme solves” — Module 01 just makes the mapping explicit before AI touches any of it.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Image 1" descr="/home/claude/work/staroute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0" y="201168"/>
            <a:ext cx="2514600" cy="501091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896112"/>
            <a:ext cx="14630400" cy="646480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548640" y="25603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CHAMPIONS PROGRAMME  |  MODULE 01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548640" y="1060704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Risks of Letting AI Loose on Embedded Firmware, Unmanaged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548640" y="1700784"/>
            <a:ext cx="1353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Business &amp; engineering risk this programme's governance model exists to contain.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6035040" y="7699248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HONEYWELL EMBEDDED ENGINEERING • AI CHAMPIONS PROGRAMME — MODULE 01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13121640" y="7452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09 / 14</a:t>
            </a:r>
            <a:endParaRPr lang="en-US" sz="1050" dirty="0"/>
          </a:p>
        </p:txBody>
      </p:sp>
      <p:pic>
        <p:nvPicPr>
          <p:cNvPr id="10" name="Image 2" descr="/home/claude/work/niit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0280" y="7479792"/>
            <a:ext cx="603504" cy="349301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48640" y="2194560"/>
            <a:ext cx="4328160" cy="2331720"/>
          </a:xfrm>
          <a:prstGeom prst="roundRect">
            <a:avLst>
              <a:gd name="adj" fmla="val 3529"/>
            </a:avLst>
          </a:prstGeom>
          <a:solidFill>
            <a:srgbClr val="FBE7E4"/>
          </a:solidFill>
          <a:ln w="12700">
            <a:solidFill>
              <a:srgbClr val="F0C4BC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768096" y="2395728"/>
            <a:ext cx="512064" cy="512064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13" name="Image 3" descr="/home/claude/work/icons/shieldaler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991" y="2518623"/>
            <a:ext cx="266273" cy="266273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3870960" y="2414016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5" name="Text 9"/>
          <p:cNvSpPr/>
          <p:nvPr/>
        </p:nvSpPr>
        <p:spPr>
          <a:xfrm>
            <a:off x="3870960" y="241401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HIGH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768096" y="3063240"/>
            <a:ext cx="387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Silent architecture &amp; standards violations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768096" y="3611880"/>
            <a:ext cx="387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AI-generated C/C++ changes that violate firmware architecture or coding standards without anyone catching it.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5151120" y="2194560"/>
            <a:ext cx="4328160" cy="2331720"/>
          </a:xfrm>
          <a:prstGeom prst="roundRect">
            <a:avLst>
              <a:gd name="adj" fmla="val 3529"/>
            </a:avLst>
          </a:prstGeom>
          <a:solidFill>
            <a:srgbClr val="FBE7E4"/>
          </a:solidFill>
          <a:ln w="12700">
            <a:solidFill>
              <a:srgbClr val="F0C4BC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5370576" y="2395728"/>
            <a:ext cx="512064" cy="512064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20" name="Image 4" descr="/home/claude/work/icons/gitcompar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3471" y="2518623"/>
            <a:ext cx="266273" cy="266273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8473440" y="2414016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22" name="Text 15"/>
          <p:cNvSpPr/>
          <p:nvPr/>
        </p:nvSpPr>
        <p:spPr>
          <a:xfrm>
            <a:off x="8473440" y="241401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HIGH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370576" y="3063240"/>
            <a:ext cx="387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Hard-to-diagnose brownfield regressions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5370576" y="3611880"/>
            <a:ext cx="387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Broken interfaces or state-machine behaviour in an existing codebase, discovered late — or in the field.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9753600" y="2194560"/>
            <a:ext cx="4328160" cy="2331720"/>
          </a:xfrm>
          <a:prstGeom prst="roundRect">
            <a:avLst>
              <a:gd name="adj" fmla="val 3529"/>
            </a:avLst>
          </a:prstGeom>
          <a:solidFill>
            <a:srgbClr val="FBE7E4"/>
          </a:solidFill>
          <a:ln w="12700">
            <a:solidFill>
              <a:srgbClr val="F0C4BC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9973056" y="2395728"/>
            <a:ext cx="512064" cy="512064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27" name="Image 5" descr="/home/claude/work/icons/microchip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5951" y="2518623"/>
            <a:ext cx="266273" cy="266273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13075920" y="2414016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29" name="Text 21"/>
          <p:cNvSpPr/>
          <p:nvPr/>
        </p:nvSpPr>
        <p:spPr>
          <a:xfrm>
            <a:off x="13075920" y="241401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HIGH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9973056" y="3063240"/>
            <a:ext cx="387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Closed-toolchain &amp; RTOS hallucination</a:t>
            </a:r>
            <a:endParaRPr lang="en-US" sz="1250" dirty="0"/>
          </a:p>
        </p:txBody>
      </p:sp>
      <p:sp>
        <p:nvSpPr>
          <p:cNvPr id="31" name="Text 23"/>
          <p:cNvSpPr/>
          <p:nvPr/>
        </p:nvSpPr>
        <p:spPr>
          <a:xfrm>
            <a:off x="9973056" y="3611880"/>
            <a:ext cx="387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Vendor toolchains, RTOS internals &amp; AUTOSAR/CAPL have thin public training data — Copilot confidently guesses wrong.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548640" y="4754880"/>
            <a:ext cx="4328160" cy="2331720"/>
          </a:xfrm>
          <a:prstGeom prst="roundRect">
            <a:avLst>
              <a:gd name="adj" fmla="val 3529"/>
            </a:avLst>
          </a:prstGeom>
          <a:solidFill>
            <a:srgbClr val="FBEDD8"/>
          </a:solidFill>
          <a:ln w="12700">
            <a:solidFill>
              <a:srgbClr val="F0DBB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768096" y="4956048"/>
            <a:ext cx="512064" cy="512064"/>
          </a:xfrm>
          <a:prstGeom prst="ellipse">
            <a:avLst/>
          </a:prstGeom>
          <a:solidFill>
            <a:srgbClr val="B9760A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34" name="Image 6" descr="/home/claude/work/icons/filewarning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0991" y="5078943"/>
            <a:ext cx="266273" cy="266273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3870960" y="4974336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B9760A"/>
          </a:solidFill>
          <a:ln/>
        </p:spPr>
      </p:sp>
      <p:sp>
        <p:nvSpPr>
          <p:cNvPr id="36" name="Text 27"/>
          <p:cNvSpPr/>
          <p:nvPr/>
        </p:nvSpPr>
        <p:spPr>
          <a:xfrm>
            <a:off x="3870960" y="497433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MEDIUM</a:t>
            </a:r>
            <a:endParaRPr lang="en-US" sz="1000" dirty="0"/>
          </a:p>
        </p:txBody>
      </p:sp>
      <p:sp>
        <p:nvSpPr>
          <p:cNvPr id="37" name="Text 28"/>
          <p:cNvSpPr/>
          <p:nvPr/>
        </p:nvSpPr>
        <p:spPr>
          <a:xfrm>
            <a:off x="768096" y="5623560"/>
            <a:ext cx="387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Prompt-only, spec-free development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768096" y="6172200"/>
            <a:ext cx="387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No traceability from requirement to acceptance criteria to implementation — nothing to validate against.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5151120" y="4754880"/>
            <a:ext cx="4328160" cy="2331720"/>
          </a:xfrm>
          <a:prstGeom prst="roundRect">
            <a:avLst>
              <a:gd name="adj" fmla="val 3529"/>
            </a:avLst>
          </a:prstGeom>
          <a:solidFill>
            <a:srgbClr val="FBEDD8"/>
          </a:solidFill>
          <a:ln w="12700">
            <a:solidFill>
              <a:srgbClr val="F0DBB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5370576" y="4956048"/>
            <a:ext cx="512064" cy="512064"/>
          </a:xfrm>
          <a:prstGeom prst="ellipse">
            <a:avLst/>
          </a:prstGeom>
          <a:solidFill>
            <a:srgbClr val="B9760A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41" name="Image 7" descr="/home/claude/work/icons/database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93471" y="5078943"/>
            <a:ext cx="266273" cy="266273"/>
          </a:xfrm>
          <a:prstGeom prst="rect">
            <a:avLst/>
          </a:prstGeom>
        </p:spPr>
      </p:pic>
      <p:sp>
        <p:nvSpPr>
          <p:cNvPr id="42" name="Shape 32"/>
          <p:cNvSpPr/>
          <p:nvPr/>
        </p:nvSpPr>
        <p:spPr>
          <a:xfrm>
            <a:off x="8473440" y="4974336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B9760A"/>
          </a:solidFill>
          <a:ln/>
        </p:spPr>
      </p:sp>
      <p:sp>
        <p:nvSpPr>
          <p:cNvPr id="43" name="Text 33"/>
          <p:cNvSpPr/>
          <p:nvPr/>
        </p:nvSpPr>
        <p:spPr>
          <a:xfrm>
            <a:off x="8473440" y="497433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MEDIUM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5370576" y="5623560"/>
            <a:ext cx="387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Context inflation &amp; token waste</a:t>
            </a:r>
            <a:endParaRPr lang="en-US" sz="1250" dirty="0"/>
          </a:p>
        </p:txBody>
      </p:sp>
      <p:sp>
        <p:nvSpPr>
          <p:cNvPr id="45" name="Text 35"/>
          <p:cNvSpPr/>
          <p:nvPr/>
        </p:nvSpPr>
        <p:spPr>
          <a:xfrm>
            <a:off x="5370576" y="6172200"/>
            <a:ext cx="387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Large repos, generated headers &amp; design docs supplied without task-scoped context — cost and noise climb.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9753600" y="4754880"/>
            <a:ext cx="4328160" cy="2331720"/>
          </a:xfrm>
          <a:prstGeom prst="roundRect">
            <a:avLst>
              <a:gd name="adj" fmla="val 3529"/>
            </a:avLst>
          </a:prstGeom>
          <a:solidFill>
            <a:srgbClr val="FBEDD8"/>
          </a:solidFill>
          <a:ln w="12700">
            <a:solidFill>
              <a:srgbClr val="F0DBB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47" name="Shape 37"/>
          <p:cNvSpPr/>
          <p:nvPr/>
        </p:nvSpPr>
        <p:spPr>
          <a:xfrm>
            <a:off x="9973056" y="4956048"/>
            <a:ext cx="512064" cy="512064"/>
          </a:xfrm>
          <a:prstGeom prst="ellipse">
            <a:avLst/>
          </a:prstGeom>
          <a:solidFill>
            <a:srgbClr val="B9760A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48" name="Image 8" descr="/home/claude/work/icons/scaneye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95951" y="5078943"/>
            <a:ext cx="266273" cy="266273"/>
          </a:xfrm>
          <a:prstGeom prst="rect">
            <a:avLst/>
          </a:prstGeom>
        </p:spPr>
      </p:pic>
      <p:sp>
        <p:nvSpPr>
          <p:cNvPr id="49" name="Shape 38"/>
          <p:cNvSpPr/>
          <p:nvPr/>
        </p:nvSpPr>
        <p:spPr>
          <a:xfrm>
            <a:off x="13075920" y="4974336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B9760A"/>
          </a:solidFill>
          <a:ln/>
        </p:spPr>
      </p:sp>
      <p:sp>
        <p:nvSpPr>
          <p:cNvPr id="50" name="Text 39"/>
          <p:cNvSpPr/>
          <p:nvPr/>
        </p:nvSpPr>
        <p:spPr>
          <a:xfrm>
            <a:off x="13075920" y="497433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MEDIUM</a:t>
            </a:r>
            <a:endParaRPr lang="en-US" sz="1000" dirty="0"/>
          </a:p>
        </p:txBody>
      </p:sp>
      <p:sp>
        <p:nvSpPr>
          <p:cNvPr id="51" name="Text 40"/>
          <p:cNvSpPr/>
          <p:nvPr/>
        </p:nvSpPr>
        <p:spPr>
          <a:xfrm>
            <a:off x="9973056" y="5623560"/>
            <a:ext cx="387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Zero usage &amp; cost visibility</a:t>
            </a:r>
            <a:endParaRPr lang="en-US" sz="1250" dirty="0"/>
          </a:p>
        </p:txBody>
      </p:sp>
      <p:sp>
        <p:nvSpPr>
          <p:cNvPr id="52" name="Text 41"/>
          <p:cNvSpPr/>
          <p:nvPr/>
        </p:nvSpPr>
        <p:spPr>
          <a:xfrm>
            <a:off x="9973056" y="6172200"/>
            <a:ext cx="387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No traces, quality signals or ROI evidence without Agent Prism — adoption decisions made blind.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Image 1" descr="/home/claude/work/staroute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0" y="201168"/>
            <a:ext cx="2514600" cy="501091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896112"/>
            <a:ext cx="14630400" cy="646480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548640" y="25603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CHAMPIONS PROGRAMME  |  MODULE 01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548640" y="1060704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Agent Prism: The Monitoring Lens We'll Use All Week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548640" y="1700784"/>
            <a:ext cx="1353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Introduced today as a concept; hands-on observability arrives in Module 9.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6035040" y="7699248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HONEYWELL EMBEDDED ENGINEERING • AI CHAMPIONS PROGRAMME — MODULE 01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13121640" y="7452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10 / 14</a:t>
            </a:r>
            <a:endParaRPr lang="en-US" sz="1050" dirty="0"/>
          </a:p>
        </p:txBody>
      </p:sp>
      <p:pic>
        <p:nvPicPr>
          <p:cNvPr id="10" name="Image 2" descr="/home/claude/work/niit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0280" y="7479792"/>
            <a:ext cx="603504" cy="349301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783080" y="3200400"/>
            <a:ext cx="2103120" cy="2103120"/>
          </a:xfrm>
          <a:prstGeom prst="ellipse">
            <a:avLst/>
          </a:prstGeom>
          <a:solidFill>
            <a:srgbClr val="0B3D7A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1A1A2E">
                <a:alpha val="25000"/>
              </a:srgbClr>
            </a:outerShdw>
          </a:effectLst>
        </p:spPr>
      </p:sp>
      <p:pic>
        <p:nvPicPr>
          <p:cNvPr id="12" name="Image 3" descr="/home/claude/work/icons/ey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3593592"/>
            <a:ext cx="822960" cy="8229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783080" y="450799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AGENT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PRISM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3840480" y="4251960"/>
            <a:ext cx="1645920" cy="-1563624"/>
          </a:xfrm>
          <a:prstGeom prst="line">
            <a:avLst/>
          </a:prstGeom>
          <a:noFill/>
          <a:ln w="25400">
            <a:solidFill>
              <a:srgbClr val="B7B9E4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5394960" y="2331720"/>
            <a:ext cx="868680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5559552" y="2432304"/>
            <a:ext cx="512064" cy="512064"/>
          </a:xfrm>
          <a:prstGeom prst="ellipse">
            <a:avLst/>
          </a:prstGeom>
          <a:solidFill>
            <a:srgbClr val="5B5FA6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17" name="Image 4" descr="/home/claude/work/icons/gitbranch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2447" y="2555199"/>
            <a:ext cx="266273" cy="26627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217920" y="240487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Traces &amp; Replay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6217920" y="26974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Step back through what an agent actually did, in what order.</a:t>
            </a:r>
            <a:endParaRPr lang="en-US" sz="980" dirty="0"/>
          </a:p>
        </p:txBody>
      </p:sp>
      <p:sp>
        <p:nvSpPr>
          <p:cNvPr id="20" name="Shape 13"/>
          <p:cNvSpPr/>
          <p:nvPr/>
        </p:nvSpPr>
        <p:spPr>
          <a:xfrm>
            <a:off x="3840480" y="4251960"/>
            <a:ext cx="1645920" cy="-722376"/>
          </a:xfrm>
          <a:prstGeom prst="line">
            <a:avLst/>
          </a:prstGeom>
          <a:noFill/>
          <a:ln w="25400">
            <a:solidFill>
              <a:srgbClr val="B7B9E4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5394960" y="3172968"/>
            <a:ext cx="868680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5559552" y="3273552"/>
            <a:ext cx="512064" cy="512064"/>
          </a:xfrm>
          <a:prstGeom prst="ellipse">
            <a:avLst/>
          </a:prstGeom>
          <a:solidFill>
            <a:srgbClr val="5B5FA6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23" name="Image 5" descr="/home/claude/work/icons/filewarning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2447" y="3396447"/>
            <a:ext cx="266273" cy="266273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217920" y="32461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Failure Patterns</a:t>
            </a:r>
            <a:endParaRPr lang="en-US" sz="1250" dirty="0"/>
          </a:p>
        </p:txBody>
      </p:sp>
      <p:sp>
        <p:nvSpPr>
          <p:cNvPr id="25" name="Text 17"/>
          <p:cNvSpPr/>
          <p:nvPr/>
        </p:nvSpPr>
        <p:spPr>
          <a:xfrm>
            <a:off x="6217920" y="353872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Where and why agent runs go wrong on embedded tasks.</a:t>
            </a:r>
            <a:endParaRPr lang="en-US" sz="980" dirty="0"/>
          </a:p>
        </p:txBody>
      </p:sp>
      <p:sp>
        <p:nvSpPr>
          <p:cNvPr id="26" name="Shape 18"/>
          <p:cNvSpPr/>
          <p:nvPr/>
        </p:nvSpPr>
        <p:spPr>
          <a:xfrm>
            <a:off x="3840480" y="4251960"/>
            <a:ext cx="1645920" cy="118872"/>
          </a:xfrm>
          <a:prstGeom prst="line">
            <a:avLst/>
          </a:prstGeom>
          <a:noFill/>
          <a:ln w="25400">
            <a:solidFill>
              <a:srgbClr val="B7B9E4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5394960" y="4014216"/>
            <a:ext cx="868680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5559552" y="4114800"/>
            <a:ext cx="512064" cy="512064"/>
          </a:xfrm>
          <a:prstGeom prst="ellipse">
            <a:avLst/>
          </a:prstGeom>
          <a:solidFill>
            <a:srgbClr val="5B5FA6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29" name="Image 6" descr="/home/claude/work/icons/trending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2447" y="4237695"/>
            <a:ext cx="266273" cy="266273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217920" y="408736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Token Usage &amp; Cost Leakage</a:t>
            </a:r>
            <a:endParaRPr lang="en-US" sz="1250" dirty="0"/>
          </a:p>
        </p:txBody>
      </p:sp>
      <p:sp>
        <p:nvSpPr>
          <p:cNvPr id="31" name="Text 22"/>
          <p:cNvSpPr/>
          <p:nvPr/>
        </p:nvSpPr>
        <p:spPr>
          <a:xfrm>
            <a:off x="6217920" y="4379976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Where AI spend is going — and whether it's earning its keep.</a:t>
            </a:r>
            <a:endParaRPr lang="en-US" sz="980" dirty="0"/>
          </a:p>
        </p:txBody>
      </p:sp>
      <p:sp>
        <p:nvSpPr>
          <p:cNvPr id="32" name="Shape 23"/>
          <p:cNvSpPr/>
          <p:nvPr/>
        </p:nvSpPr>
        <p:spPr>
          <a:xfrm>
            <a:off x="3840480" y="4251960"/>
            <a:ext cx="1645920" cy="960120"/>
          </a:xfrm>
          <a:prstGeom prst="line">
            <a:avLst/>
          </a:prstGeom>
          <a:noFill/>
          <a:ln w="25400">
            <a:solidFill>
              <a:srgbClr val="B7B9E4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5394960" y="4855464"/>
            <a:ext cx="868680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34" name="Shape 25"/>
          <p:cNvSpPr/>
          <p:nvPr/>
        </p:nvSpPr>
        <p:spPr>
          <a:xfrm>
            <a:off x="5559552" y="4956048"/>
            <a:ext cx="512064" cy="512064"/>
          </a:xfrm>
          <a:prstGeom prst="ellipse">
            <a:avLst/>
          </a:prstGeom>
          <a:solidFill>
            <a:srgbClr val="5B5FA6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35" name="Image 7" descr="/home/claude/work/icons/badgecheck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2447" y="5078943"/>
            <a:ext cx="266273" cy="266273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6217920" y="492861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Quality &amp; Control Signals</a:t>
            </a:r>
            <a:endParaRPr lang="en-US" sz="1250" dirty="0"/>
          </a:p>
        </p:txBody>
      </p:sp>
      <p:sp>
        <p:nvSpPr>
          <p:cNvPr id="37" name="Text 27"/>
          <p:cNvSpPr/>
          <p:nvPr/>
        </p:nvSpPr>
        <p:spPr>
          <a:xfrm>
            <a:off x="6217920" y="5221224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Confidence and quality indicators before code reaches review.</a:t>
            </a:r>
            <a:endParaRPr lang="en-US" sz="980" dirty="0"/>
          </a:p>
        </p:txBody>
      </p:sp>
      <p:sp>
        <p:nvSpPr>
          <p:cNvPr id="38" name="Shape 28"/>
          <p:cNvSpPr/>
          <p:nvPr/>
        </p:nvSpPr>
        <p:spPr>
          <a:xfrm>
            <a:off x="3840480" y="4251960"/>
            <a:ext cx="1645920" cy="1801368"/>
          </a:xfrm>
          <a:prstGeom prst="line">
            <a:avLst/>
          </a:prstGeom>
          <a:noFill/>
          <a:ln w="25400">
            <a:solidFill>
              <a:srgbClr val="B7B9E4"/>
            </a:solidFill>
            <a:prstDash val="solid"/>
          </a:ln>
        </p:spPr>
      </p:sp>
      <p:sp>
        <p:nvSpPr>
          <p:cNvPr id="39" name="Shape 29"/>
          <p:cNvSpPr/>
          <p:nvPr/>
        </p:nvSpPr>
        <p:spPr>
          <a:xfrm>
            <a:off x="5394960" y="5696712"/>
            <a:ext cx="868680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40" name="Shape 30"/>
          <p:cNvSpPr/>
          <p:nvPr/>
        </p:nvSpPr>
        <p:spPr>
          <a:xfrm>
            <a:off x="5559552" y="5797296"/>
            <a:ext cx="512064" cy="512064"/>
          </a:xfrm>
          <a:prstGeom prst="ellipse">
            <a:avLst/>
          </a:prstGeom>
          <a:solidFill>
            <a:srgbClr val="5B5FA6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41" name="Image 8" descr="/home/claude/work/icons/users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82447" y="5920191"/>
            <a:ext cx="266273" cy="266273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6217920" y="576986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Adoption Tracking</a:t>
            </a:r>
            <a:endParaRPr lang="en-US" sz="1250" dirty="0"/>
          </a:p>
        </p:txBody>
      </p:sp>
      <p:sp>
        <p:nvSpPr>
          <p:cNvPr id="43" name="Text 32"/>
          <p:cNvSpPr/>
          <p:nvPr/>
        </p:nvSpPr>
        <p:spPr>
          <a:xfrm>
            <a:off x="6217920" y="606247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Who is actually using AI-assisted workflows, and how often.</a:t>
            </a:r>
            <a:endParaRPr lang="en-US" sz="980" dirty="0"/>
          </a:p>
        </p:txBody>
      </p:sp>
      <p:sp>
        <p:nvSpPr>
          <p:cNvPr id="44" name="Shape 33"/>
          <p:cNvSpPr/>
          <p:nvPr/>
        </p:nvSpPr>
        <p:spPr>
          <a:xfrm>
            <a:off x="548640" y="6217920"/>
            <a:ext cx="4434840" cy="1188720"/>
          </a:xfrm>
          <a:prstGeom prst="roundRect">
            <a:avLst>
              <a:gd name="adj" fmla="val 6923"/>
            </a:avLst>
          </a:prstGeom>
          <a:solidFill>
            <a:srgbClr val="FBEDD8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45" name="Text 34"/>
          <p:cNvSpPr/>
          <p:nvPr/>
        </p:nvSpPr>
        <p:spPr>
          <a:xfrm>
            <a:off x="777240" y="621792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B9760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Procurement flag: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Agent Prism sandbox access has no public pricing yet. Confirm the procurement path now so it isn't a blocker by Module 9.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Image 1" descr="/home/claude/work/staroute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0" y="201168"/>
            <a:ext cx="2514600" cy="501091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896112"/>
            <a:ext cx="14630400" cy="646480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548640" y="25603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CHAMPIONS PROGRAMME  |  MODULE 01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548640" y="1060704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Workshop: Mapping Current-State vs Target-State Workflow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548640" y="1700784"/>
            <a:ext cx="1353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25-minute small-group exercise — grouped by GBE, annotating the lifecycle from Slide 8.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6035040" y="7699248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HONEYWELL EMBEDDED ENGINEERING • AI CHAMPIONS PROGRAMME — MODULE 01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13121640" y="7452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11 / 14</a:t>
            </a:r>
            <a:endParaRPr lang="en-US" sz="1050" dirty="0"/>
          </a:p>
        </p:txBody>
      </p:sp>
      <p:pic>
        <p:nvPicPr>
          <p:cNvPr id="10" name="Image 2" descr="/home/claude/work/niit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0280" y="7479792"/>
            <a:ext cx="603504" cy="34930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920240" y="2194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Spec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3657600" y="2194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5394960" y="2194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Implement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7132320" y="2194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Build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8869680" y="2194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Test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10607040" y="2194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Review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12344400" y="2194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Release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48640" y="2560320"/>
            <a:ext cx="1234440" cy="1600200"/>
          </a:xfrm>
          <a:prstGeom prst="roundRect">
            <a:avLst>
              <a:gd name="adj" fmla="val 5926"/>
            </a:avLst>
          </a:prstGeom>
          <a:solidFill>
            <a:srgbClr val="C0392B"/>
          </a:solidFill>
          <a:ln/>
        </p:spPr>
      </p:sp>
      <p:sp>
        <p:nvSpPr>
          <p:cNvPr id="19" name="Text 14"/>
          <p:cNvSpPr/>
          <p:nvPr/>
        </p:nvSpPr>
        <p:spPr>
          <a:xfrm>
            <a:off x="548640" y="2560320"/>
            <a:ext cx="1234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CURRENT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STATE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1920240" y="2560320"/>
            <a:ext cx="12161520" cy="1600200"/>
          </a:xfrm>
          <a:prstGeom prst="roundRect">
            <a:avLst>
              <a:gd name="adj" fmla="val 4571"/>
            </a:avLst>
          </a:prstGeom>
          <a:solidFill>
            <a:srgbClr val="FBE7E4"/>
          </a:solidFill>
          <a:ln w="12700">
            <a:solidFill>
              <a:srgbClr val="F0C4B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657600" y="2670048"/>
            <a:ext cx="0" cy="1380744"/>
          </a:xfrm>
          <a:prstGeom prst="line">
            <a:avLst/>
          </a:prstGeom>
          <a:noFill/>
          <a:ln w="12700">
            <a:solidFill>
              <a:srgbClr val="F0C4B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394960" y="2670048"/>
            <a:ext cx="0" cy="1380744"/>
          </a:xfrm>
          <a:prstGeom prst="line">
            <a:avLst/>
          </a:prstGeom>
          <a:noFill/>
          <a:ln w="12700">
            <a:solidFill>
              <a:srgbClr val="F0C4B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132320" y="2670048"/>
            <a:ext cx="0" cy="1380744"/>
          </a:xfrm>
          <a:prstGeom prst="line">
            <a:avLst/>
          </a:prstGeom>
          <a:noFill/>
          <a:ln w="12700">
            <a:solidFill>
              <a:srgbClr val="F0C4BC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869680" y="2670048"/>
            <a:ext cx="0" cy="1380744"/>
          </a:xfrm>
          <a:prstGeom prst="line">
            <a:avLst/>
          </a:prstGeom>
          <a:noFill/>
          <a:ln w="12700">
            <a:solidFill>
              <a:srgbClr val="F0C4BC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0607040" y="2670048"/>
            <a:ext cx="0" cy="1380744"/>
          </a:xfrm>
          <a:prstGeom prst="line">
            <a:avLst/>
          </a:prstGeom>
          <a:noFill/>
          <a:ln w="12700">
            <a:solidFill>
              <a:srgbClr val="F0C4B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12344400" y="2670048"/>
            <a:ext cx="0" cy="1380744"/>
          </a:xfrm>
          <a:prstGeom prst="line">
            <a:avLst/>
          </a:prstGeom>
          <a:noFill/>
          <a:ln w="12700">
            <a:solidFill>
              <a:srgbClr val="F0C4BC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2103120" y="2697480"/>
            <a:ext cx="11795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C0392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Pain points from Slide 8 get annotated here, stage by stage — in the participants' own words.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548640" y="4480560"/>
            <a:ext cx="1234440" cy="1600200"/>
          </a:xfrm>
          <a:prstGeom prst="roundRect">
            <a:avLst>
              <a:gd name="adj" fmla="val 5926"/>
            </a:avLst>
          </a:prstGeom>
          <a:solidFill>
            <a:srgbClr val="1E8A5F"/>
          </a:solidFill>
          <a:ln/>
        </p:spPr>
      </p:sp>
      <p:sp>
        <p:nvSpPr>
          <p:cNvPr id="29" name="Text 24"/>
          <p:cNvSpPr/>
          <p:nvPr/>
        </p:nvSpPr>
        <p:spPr>
          <a:xfrm>
            <a:off x="548640" y="4480560"/>
            <a:ext cx="1234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TARGET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STATE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1920240" y="4480560"/>
            <a:ext cx="12161520" cy="1600200"/>
          </a:xfrm>
          <a:prstGeom prst="roundRect">
            <a:avLst>
              <a:gd name="adj" fmla="val 4571"/>
            </a:avLst>
          </a:prstGeom>
          <a:solidFill>
            <a:srgbClr val="E1F1EA"/>
          </a:solidFill>
          <a:ln w="12700">
            <a:solidFill>
              <a:srgbClr val="BFE3D2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3657600" y="4590288"/>
            <a:ext cx="0" cy="1380744"/>
          </a:xfrm>
          <a:prstGeom prst="line">
            <a:avLst/>
          </a:prstGeom>
          <a:noFill/>
          <a:ln w="12700">
            <a:solidFill>
              <a:srgbClr val="BFE3D2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394960" y="4590288"/>
            <a:ext cx="0" cy="1380744"/>
          </a:xfrm>
          <a:prstGeom prst="line">
            <a:avLst/>
          </a:prstGeom>
          <a:noFill/>
          <a:ln w="12700">
            <a:solidFill>
              <a:srgbClr val="BFE3D2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7132320" y="4590288"/>
            <a:ext cx="0" cy="1380744"/>
          </a:xfrm>
          <a:prstGeom prst="line">
            <a:avLst/>
          </a:prstGeom>
          <a:noFill/>
          <a:ln w="12700">
            <a:solidFill>
              <a:srgbClr val="BFE3D2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8869680" y="4590288"/>
            <a:ext cx="0" cy="1380744"/>
          </a:xfrm>
          <a:prstGeom prst="line">
            <a:avLst/>
          </a:prstGeom>
          <a:noFill/>
          <a:ln w="12700">
            <a:solidFill>
              <a:srgbClr val="BFE3D2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10607040" y="4590288"/>
            <a:ext cx="0" cy="1380744"/>
          </a:xfrm>
          <a:prstGeom prst="line">
            <a:avLst/>
          </a:prstGeom>
          <a:noFill/>
          <a:ln w="12700">
            <a:solidFill>
              <a:srgbClr val="BFE3D2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12344400" y="4590288"/>
            <a:ext cx="0" cy="1380744"/>
          </a:xfrm>
          <a:prstGeom prst="line">
            <a:avLst/>
          </a:prstGeom>
          <a:noFill/>
          <a:ln w="12700">
            <a:solidFill>
              <a:srgbClr val="BFE3D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103120" y="4617720"/>
            <a:ext cx="11795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1E8A5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Groups sketch the AI-assisted future state per stage — what changes, and which module owns it.</a:t>
            </a:r>
            <a:endParaRPr lang="en-US" sz="1100" dirty="0"/>
          </a:p>
        </p:txBody>
      </p:sp>
      <p:sp>
        <p:nvSpPr>
          <p:cNvPr id="38" name="Shape 33"/>
          <p:cNvSpPr/>
          <p:nvPr/>
        </p:nvSpPr>
        <p:spPr>
          <a:xfrm>
            <a:off x="548640" y="6355080"/>
            <a:ext cx="4328160" cy="960120"/>
          </a:xfrm>
          <a:prstGeom prst="roundRect">
            <a:avLst>
              <a:gd name="adj" fmla="val 8571"/>
            </a:avLst>
          </a:prstGeom>
          <a:solidFill>
            <a:srgbClr val="F4F6FD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731520" y="6574536"/>
            <a:ext cx="512064" cy="512064"/>
          </a:xfrm>
          <a:prstGeom prst="ellipse">
            <a:avLst/>
          </a:prstGeom>
          <a:solidFill>
            <a:srgbClr val="0B3D7A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40" name="Image 3" descr="/home/claude/work/icons/user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415" y="6697431"/>
            <a:ext cx="266273" cy="266273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1371600" y="6483096"/>
            <a:ext cx="336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Group by GBE</a:t>
            </a:r>
            <a:endParaRPr lang="en-US" sz="1150" dirty="0"/>
          </a:p>
        </p:txBody>
      </p:sp>
      <p:sp>
        <p:nvSpPr>
          <p:cNvPr id="42" name="Text 36"/>
          <p:cNvSpPr/>
          <p:nvPr/>
        </p:nvSpPr>
        <p:spPr>
          <a:xfrm>
            <a:off x="1371600" y="6775704"/>
            <a:ext cx="336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PA · IA · BA teams work their own lifecycle — real repos, real pain.</a:t>
            </a:r>
            <a:endParaRPr lang="en-US" sz="950" dirty="0"/>
          </a:p>
        </p:txBody>
      </p:sp>
      <p:sp>
        <p:nvSpPr>
          <p:cNvPr id="43" name="Shape 37"/>
          <p:cNvSpPr/>
          <p:nvPr/>
        </p:nvSpPr>
        <p:spPr>
          <a:xfrm>
            <a:off x="5151120" y="6355080"/>
            <a:ext cx="4328160" cy="960120"/>
          </a:xfrm>
          <a:prstGeom prst="roundRect">
            <a:avLst>
              <a:gd name="adj" fmla="val 8571"/>
            </a:avLst>
          </a:prstGeom>
          <a:solidFill>
            <a:srgbClr val="F4F6FD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44" name="Shape 38"/>
          <p:cNvSpPr/>
          <p:nvPr/>
        </p:nvSpPr>
        <p:spPr>
          <a:xfrm>
            <a:off x="5334000" y="6574536"/>
            <a:ext cx="512064" cy="512064"/>
          </a:xfrm>
          <a:prstGeom prst="ellipse">
            <a:avLst/>
          </a:prstGeom>
          <a:solidFill>
            <a:srgbClr val="0B3D7A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45" name="Image 4" descr="/home/claude/work/icons/gitcompar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6895" y="6697431"/>
            <a:ext cx="266273" cy="266273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5974080" y="6483096"/>
            <a:ext cx="336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Split Greenfield / Brownfield</a:t>
            </a:r>
            <a:endParaRPr lang="en-US" sz="1150" dirty="0"/>
          </a:p>
        </p:txBody>
      </p:sp>
      <p:sp>
        <p:nvSpPr>
          <p:cNvPr id="47" name="Text 40"/>
          <p:cNvSpPr/>
          <p:nvPr/>
        </p:nvSpPr>
        <p:spPr>
          <a:xfrm>
            <a:off x="5974080" y="6775704"/>
            <a:ext cx="336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Each group tags stages as new-build vs existing-codebase reality.</a:t>
            </a:r>
            <a:endParaRPr lang="en-US" sz="950" dirty="0"/>
          </a:p>
        </p:txBody>
      </p:sp>
      <p:sp>
        <p:nvSpPr>
          <p:cNvPr id="48" name="Shape 41"/>
          <p:cNvSpPr/>
          <p:nvPr/>
        </p:nvSpPr>
        <p:spPr>
          <a:xfrm>
            <a:off x="9753600" y="6355080"/>
            <a:ext cx="4328160" cy="960120"/>
          </a:xfrm>
          <a:prstGeom prst="roundRect">
            <a:avLst>
              <a:gd name="adj" fmla="val 8571"/>
            </a:avLst>
          </a:prstGeom>
          <a:solidFill>
            <a:srgbClr val="F4F6FD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49" name="Shape 42"/>
          <p:cNvSpPr/>
          <p:nvPr/>
        </p:nvSpPr>
        <p:spPr>
          <a:xfrm>
            <a:off x="9936480" y="6574536"/>
            <a:ext cx="512064" cy="512064"/>
          </a:xfrm>
          <a:prstGeom prst="ellipse">
            <a:avLst/>
          </a:prstGeom>
          <a:solidFill>
            <a:srgbClr val="0B3D7A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50" name="Image 5" descr="/home/claude/work/icons/listchecks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9375" y="6697431"/>
            <a:ext cx="266273" cy="266273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10576560" y="6483096"/>
            <a:ext cx="336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Output Feeds Forward</a:t>
            </a:r>
            <a:endParaRPr lang="en-US" sz="1150" dirty="0"/>
          </a:p>
        </p:txBody>
      </p:sp>
      <p:sp>
        <p:nvSpPr>
          <p:cNvPr id="52" name="Text 44"/>
          <p:cNvSpPr/>
          <p:nvPr/>
        </p:nvSpPr>
        <p:spPr>
          <a:xfrm>
            <a:off x="10576560" y="6775704"/>
            <a:ext cx="336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Canvas becomes direct input to the success-metrics worksheet (next slide).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Image 1" descr="/home/claude/work/staroute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0" y="201168"/>
            <a:ext cx="2514600" cy="501091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896112"/>
            <a:ext cx="14630400" cy="646480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548640" y="25603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CHAMPIONS PROGRAMME  |  MODULE 01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548640" y="1060704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Defining Success Before We Touch a Single Prompt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548640" y="1700784"/>
            <a:ext cx="1353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Workshop output #2: the success-metrics worksheet and the representative use cases Module 5 will build on.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6035040" y="7699248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HONEYWELL EMBEDDED ENGINEERING • AI CHAMPIONS PROGRAMME — MODULE 01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13121640" y="7452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12 / 14</a:t>
            </a:r>
            <a:endParaRPr lang="en-US" sz="1050" dirty="0"/>
          </a:p>
        </p:txBody>
      </p:sp>
      <p:pic>
        <p:nvPicPr>
          <p:cNvPr id="10" name="Image 2" descr="/home/claude/work/niit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0280" y="7479792"/>
            <a:ext cx="603504" cy="34930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219456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SUCCESS METRICS WORKSHEET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548640" y="2651760"/>
            <a:ext cx="630936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713232" y="2752344"/>
            <a:ext cx="457200" cy="457200"/>
          </a:xfrm>
          <a:prstGeom prst="ellipse">
            <a:avLst/>
          </a:prstGeom>
          <a:solidFill>
            <a:srgbClr val="0B3D7A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14" name="Image 3" descr="/home/claude/work/icons/timer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862072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25880" y="2651760"/>
            <a:ext cx="5349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3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Feature / defect implementation cycle time</a:t>
            </a:r>
            <a:endParaRPr lang="en-US" sz="1230" dirty="0"/>
          </a:p>
        </p:txBody>
      </p:sp>
      <p:sp>
        <p:nvSpPr>
          <p:cNvPr id="16" name="Shape 10"/>
          <p:cNvSpPr/>
          <p:nvPr/>
        </p:nvSpPr>
        <p:spPr>
          <a:xfrm>
            <a:off x="548640" y="3429000"/>
            <a:ext cx="630936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13232" y="3529584"/>
            <a:ext cx="457200" cy="457200"/>
          </a:xfrm>
          <a:prstGeom prst="ellipse">
            <a:avLst/>
          </a:prstGeom>
          <a:solidFill>
            <a:srgbClr val="0B3D7A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18" name="Image 4" descr="/home/claude/work/icons/gitpr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639312"/>
            <a:ext cx="237744" cy="23774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25880" y="3429000"/>
            <a:ext cx="5349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3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 review latency &amp; review-cycle count</a:t>
            </a:r>
            <a:endParaRPr lang="en-US" sz="1230" dirty="0"/>
          </a:p>
        </p:txBody>
      </p:sp>
      <p:sp>
        <p:nvSpPr>
          <p:cNvPr id="20" name="Shape 13"/>
          <p:cNvSpPr/>
          <p:nvPr/>
        </p:nvSpPr>
        <p:spPr>
          <a:xfrm>
            <a:off x="548640" y="4206240"/>
            <a:ext cx="630936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713232" y="4306824"/>
            <a:ext cx="457200" cy="457200"/>
          </a:xfrm>
          <a:prstGeom prst="ellipse">
            <a:avLst/>
          </a:prstGeom>
          <a:solidFill>
            <a:srgbClr val="0B3D7A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22" name="Image 5" descr="/home/claude/work/icons/shieldalert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416552"/>
            <a:ext cx="237744" cy="23774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325880" y="4206240"/>
            <a:ext cx="5349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3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Regression &amp; defect rate in brownfield changes</a:t>
            </a:r>
            <a:endParaRPr lang="en-US" sz="1230" dirty="0"/>
          </a:p>
        </p:txBody>
      </p:sp>
      <p:sp>
        <p:nvSpPr>
          <p:cNvPr id="24" name="Shape 16"/>
          <p:cNvSpPr/>
          <p:nvPr/>
        </p:nvSpPr>
        <p:spPr>
          <a:xfrm>
            <a:off x="548640" y="4983480"/>
            <a:ext cx="630936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713232" y="5084064"/>
            <a:ext cx="457200" cy="457200"/>
          </a:xfrm>
          <a:prstGeom prst="ellipse">
            <a:avLst/>
          </a:prstGeom>
          <a:solidFill>
            <a:srgbClr val="0B3D7A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26" name="Image 6" descr="/home/claude/work/icons/trending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5193792"/>
            <a:ext cx="237744" cy="237744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325880" y="4983480"/>
            <a:ext cx="5349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3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cost per accepted, production-quality change</a:t>
            </a:r>
            <a:endParaRPr lang="en-US" sz="1230" dirty="0"/>
          </a:p>
        </p:txBody>
      </p:sp>
      <p:sp>
        <p:nvSpPr>
          <p:cNvPr id="28" name="Shape 19"/>
          <p:cNvSpPr/>
          <p:nvPr/>
        </p:nvSpPr>
        <p:spPr>
          <a:xfrm>
            <a:off x="548640" y="5760720"/>
            <a:ext cx="630936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29" name="Shape 20"/>
          <p:cNvSpPr/>
          <p:nvPr/>
        </p:nvSpPr>
        <p:spPr>
          <a:xfrm>
            <a:off x="713232" y="5861304"/>
            <a:ext cx="457200" cy="457200"/>
          </a:xfrm>
          <a:prstGeom prst="ellipse">
            <a:avLst/>
          </a:prstGeom>
          <a:solidFill>
            <a:srgbClr val="0B3D7A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30" name="Image 7" descr="/home/claude/work/icons/users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5971032"/>
            <a:ext cx="237744" cy="237744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325880" y="5760720"/>
            <a:ext cx="5349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3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Adoption rate across PA / IA / BA engineers</a:t>
            </a:r>
            <a:endParaRPr lang="en-US" sz="1230" dirty="0"/>
          </a:p>
        </p:txBody>
      </p:sp>
      <p:sp>
        <p:nvSpPr>
          <p:cNvPr id="32" name="Text 22"/>
          <p:cNvSpPr/>
          <p:nvPr/>
        </p:nvSpPr>
        <p:spPr>
          <a:xfrm>
            <a:off x="7223760" y="21945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REPRESENTATIVE USE CASES — ONE PAIR PER GBE</a:t>
            </a:r>
            <a:endParaRPr lang="en-US" sz="1300" dirty="0"/>
          </a:p>
        </p:txBody>
      </p:sp>
      <p:sp>
        <p:nvSpPr>
          <p:cNvPr id="33" name="Shape 23"/>
          <p:cNvSpPr/>
          <p:nvPr/>
        </p:nvSpPr>
        <p:spPr>
          <a:xfrm>
            <a:off x="7223760" y="2651760"/>
            <a:ext cx="6858000" cy="1207008"/>
          </a:xfrm>
          <a:prstGeom prst="roundRect">
            <a:avLst>
              <a:gd name="adj" fmla="val 6818"/>
            </a:avLst>
          </a:prstGeom>
          <a:solidFill>
            <a:srgbClr val="F7F7FB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7406640" y="2834640"/>
            <a:ext cx="640080" cy="457200"/>
          </a:xfrm>
          <a:prstGeom prst="roundRect">
            <a:avLst>
              <a:gd name="adj" fmla="val 50000"/>
            </a:avLst>
          </a:prstGeom>
          <a:solidFill>
            <a:srgbClr val="0B3D7A"/>
          </a:solidFill>
          <a:ln/>
        </p:spPr>
      </p:sp>
      <p:sp>
        <p:nvSpPr>
          <p:cNvPr id="35" name="Text 25"/>
          <p:cNvSpPr/>
          <p:nvPr/>
        </p:nvSpPr>
        <p:spPr>
          <a:xfrm>
            <a:off x="7406640" y="2834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PA</a:t>
            </a:r>
            <a:endParaRPr lang="en-US" sz="1500" dirty="0"/>
          </a:p>
        </p:txBody>
      </p:sp>
      <p:sp>
        <p:nvSpPr>
          <p:cNvPr id="36" name="Text 26"/>
          <p:cNvSpPr/>
          <p:nvPr/>
        </p:nvSpPr>
        <p:spPr>
          <a:xfrm>
            <a:off x="8183880" y="2779776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Process Automation</a:t>
            </a:r>
            <a:endParaRPr lang="en-US" sz="1200" dirty="0"/>
          </a:p>
        </p:txBody>
      </p:sp>
      <p:sp>
        <p:nvSpPr>
          <p:cNvPr id="37" name="Shape 27"/>
          <p:cNvSpPr/>
          <p:nvPr/>
        </p:nvSpPr>
        <p:spPr>
          <a:xfrm>
            <a:off x="8183880" y="3108960"/>
            <a:ext cx="2743200" cy="594360"/>
          </a:xfrm>
          <a:prstGeom prst="roundRect">
            <a:avLst>
              <a:gd name="adj" fmla="val 9231"/>
            </a:avLst>
          </a:prstGeom>
          <a:solidFill>
            <a:srgbClr val="DADBF1"/>
          </a:solidFill>
          <a:ln/>
        </p:spPr>
      </p:sp>
      <p:sp>
        <p:nvSpPr>
          <p:cNvPr id="38" name="Text 28"/>
          <p:cNvSpPr/>
          <p:nvPr/>
        </p:nvSpPr>
        <p:spPr>
          <a:xfrm>
            <a:off x="8275320" y="31089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5B5FA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Greenfield candidate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5B5FA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(new feature, spec-driven)</a:t>
            </a:r>
            <a:endParaRPr lang="en-US" sz="900" dirty="0"/>
          </a:p>
        </p:txBody>
      </p:sp>
      <p:sp>
        <p:nvSpPr>
          <p:cNvPr id="39" name="Shape 29"/>
          <p:cNvSpPr/>
          <p:nvPr/>
        </p:nvSpPr>
        <p:spPr>
          <a:xfrm>
            <a:off x="11109960" y="3108960"/>
            <a:ext cx="2743200" cy="594360"/>
          </a:xfrm>
          <a:prstGeom prst="roundRect">
            <a:avLst>
              <a:gd name="adj" fmla="val 9231"/>
            </a:avLst>
          </a:prstGeom>
          <a:solidFill>
            <a:srgbClr val="FBEDD8"/>
          </a:solidFill>
          <a:ln/>
        </p:spPr>
      </p:sp>
      <p:sp>
        <p:nvSpPr>
          <p:cNvPr id="40" name="Text 30"/>
          <p:cNvSpPr/>
          <p:nvPr/>
        </p:nvSpPr>
        <p:spPr>
          <a:xfrm>
            <a:off x="11201400" y="31089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B9760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Brownfield candidate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B9760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(existing firmware, safe change)</a:t>
            </a:r>
            <a:endParaRPr lang="en-US" sz="900" dirty="0"/>
          </a:p>
        </p:txBody>
      </p:sp>
      <p:sp>
        <p:nvSpPr>
          <p:cNvPr id="41" name="Shape 31"/>
          <p:cNvSpPr/>
          <p:nvPr/>
        </p:nvSpPr>
        <p:spPr>
          <a:xfrm>
            <a:off x="7223760" y="4005072"/>
            <a:ext cx="6858000" cy="1207008"/>
          </a:xfrm>
          <a:prstGeom prst="roundRect">
            <a:avLst>
              <a:gd name="adj" fmla="val 6818"/>
            </a:avLst>
          </a:prstGeom>
          <a:solidFill>
            <a:srgbClr val="F7F7FB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42" name="Shape 32"/>
          <p:cNvSpPr/>
          <p:nvPr/>
        </p:nvSpPr>
        <p:spPr>
          <a:xfrm>
            <a:off x="7406640" y="4187952"/>
            <a:ext cx="640080" cy="457200"/>
          </a:xfrm>
          <a:prstGeom prst="roundRect">
            <a:avLst>
              <a:gd name="adj" fmla="val 50000"/>
            </a:avLst>
          </a:prstGeom>
          <a:solidFill>
            <a:srgbClr val="0B3D7A"/>
          </a:solidFill>
          <a:ln/>
        </p:spPr>
      </p:sp>
      <p:sp>
        <p:nvSpPr>
          <p:cNvPr id="43" name="Text 33"/>
          <p:cNvSpPr/>
          <p:nvPr/>
        </p:nvSpPr>
        <p:spPr>
          <a:xfrm>
            <a:off x="7406640" y="418795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IA</a:t>
            </a:r>
            <a:endParaRPr lang="en-US" sz="1500" dirty="0"/>
          </a:p>
        </p:txBody>
      </p:sp>
      <p:sp>
        <p:nvSpPr>
          <p:cNvPr id="44" name="Text 34"/>
          <p:cNvSpPr/>
          <p:nvPr/>
        </p:nvSpPr>
        <p:spPr>
          <a:xfrm>
            <a:off x="8183880" y="4133088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Industrial Automation</a:t>
            </a:r>
            <a:endParaRPr lang="en-US" sz="1200" dirty="0"/>
          </a:p>
        </p:txBody>
      </p:sp>
      <p:sp>
        <p:nvSpPr>
          <p:cNvPr id="45" name="Shape 35"/>
          <p:cNvSpPr/>
          <p:nvPr/>
        </p:nvSpPr>
        <p:spPr>
          <a:xfrm>
            <a:off x="8183880" y="4462272"/>
            <a:ext cx="2743200" cy="594360"/>
          </a:xfrm>
          <a:prstGeom prst="roundRect">
            <a:avLst>
              <a:gd name="adj" fmla="val 9231"/>
            </a:avLst>
          </a:prstGeom>
          <a:solidFill>
            <a:srgbClr val="DADBF1"/>
          </a:solidFill>
          <a:ln/>
        </p:spPr>
      </p:sp>
      <p:sp>
        <p:nvSpPr>
          <p:cNvPr id="46" name="Text 36"/>
          <p:cNvSpPr/>
          <p:nvPr/>
        </p:nvSpPr>
        <p:spPr>
          <a:xfrm>
            <a:off x="8275320" y="446227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5B5FA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Greenfield candidate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5B5FA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(new feature, spec-driven)</a:t>
            </a:r>
            <a:endParaRPr lang="en-US" sz="900" dirty="0"/>
          </a:p>
        </p:txBody>
      </p:sp>
      <p:sp>
        <p:nvSpPr>
          <p:cNvPr id="47" name="Shape 37"/>
          <p:cNvSpPr/>
          <p:nvPr/>
        </p:nvSpPr>
        <p:spPr>
          <a:xfrm>
            <a:off x="11109960" y="4462272"/>
            <a:ext cx="2743200" cy="594360"/>
          </a:xfrm>
          <a:prstGeom prst="roundRect">
            <a:avLst>
              <a:gd name="adj" fmla="val 9231"/>
            </a:avLst>
          </a:prstGeom>
          <a:solidFill>
            <a:srgbClr val="FBEDD8"/>
          </a:solidFill>
          <a:ln/>
        </p:spPr>
      </p:sp>
      <p:sp>
        <p:nvSpPr>
          <p:cNvPr id="48" name="Text 38"/>
          <p:cNvSpPr/>
          <p:nvPr/>
        </p:nvSpPr>
        <p:spPr>
          <a:xfrm>
            <a:off x="11201400" y="446227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B9760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Brownfield candidate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B9760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(existing firmware, safe change)</a:t>
            </a:r>
            <a:endParaRPr lang="en-US" sz="900" dirty="0"/>
          </a:p>
        </p:txBody>
      </p:sp>
      <p:sp>
        <p:nvSpPr>
          <p:cNvPr id="49" name="Shape 39"/>
          <p:cNvSpPr/>
          <p:nvPr/>
        </p:nvSpPr>
        <p:spPr>
          <a:xfrm>
            <a:off x="7223760" y="5358384"/>
            <a:ext cx="6858000" cy="1207008"/>
          </a:xfrm>
          <a:prstGeom prst="roundRect">
            <a:avLst>
              <a:gd name="adj" fmla="val 6818"/>
            </a:avLst>
          </a:prstGeom>
          <a:solidFill>
            <a:srgbClr val="F7F7FB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50" name="Shape 40"/>
          <p:cNvSpPr/>
          <p:nvPr/>
        </p:nvSpPr>
        <p:spPr>
          <a:xfrm>
            <a:off x="7406640" y="5541264"/>
            <a:ext cx="640080" cy="457200"/>
          </a:xfrm>
          <a:prstGeom prst="roundRect">
            <a:avLst>
              <a:gd name="adj" fmla="val 50000"/>
            </a:avLst>
          </a:prstGeom>
          <a:solidFill>
            <a:srgbClr val="0B3D7A"/>
          </a:solidFill>
          <a:ln/>
        </p:spPr>
      </p:sp>
      <p:sp>
        <p:nvSpPr>
          <p:cNvPr id="51" name="Text 41"/>
          <p:cNvSpPr/>
          <p:nvPr/>
        </p:nvSpPr>
        <p:spPr>
          <a:xfrm>
            <a:off x="7406640" y="554126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BA</a:t>
            </a:r>
            <a:endParaRPr lang="en-US" sz="1500" dirty="0"/>
          </a:p>
        </p:txBody>
      </p:sp>
      <p:sp>
        <p:nvSpPr>
          <p:cNvPr id="52" name="Text 42"/>
          <p:cNvSpPr/>
          <p:nvPr/>
        </p:nvSpPr>
        <p:spPr>
          <a:xfrm>
            <a:off x="8183880" y="5486400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Building Automation</a:t>
            </a:r>
            <a:endParaRPr lang="en-US" sz="1200" dirty="0"/>
          </a:p>
        </p:txBody>
      </p:sp>
      <p:sp>
        <p:nvSpPr>
          <p:cNvPr id="53" name="Shape 43"/>
          <p:cNvSpPr/>
          <p:nvPr/>
        </p:nvSpPr>
        <p:spPr>
          <a:xfrm>
            <a:off x="8183880" y="5815584"/>
            <a:ext cx="2743200" cy="594360"/>
          </a:xfrm>
          <a:prstGeom prst="roundRect">
            <a:avLst>
              <a:gd name="adj" fmla="val 9231"/>
            </a:avLst>
          </a:prstGeom>
          <a:solidFill>
            <a:srgbClr val="DADBF1"/>
          </a:solidFill>
          <a:ln/>
        </p:spPr>
      </p:sp>
      <p:sp>
        <p:nvSpPr>
          <p:cNvPr id="54" name="Text 44"/>
          <p:cNvSpPr/>
          <p:nvPr/>
        </p:nvSpPr>
        <p:spPr>
          <a:xfrm>
            <a:off x="8275320" y="5815584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5B5FA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Greenfield candidate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5B5FA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(new feature, spec-driven)</a:t>
            </a:r>
            <a:endParaRPr lang="en-US" sz="900" dirty="0"/>
          </a:p>
        </p:txBody>
      </p:sp>
      <p:sp>
        <p:nvSpPr>
          <p:cNvPr id="55" name="Shape 45"/>
          <p:cNvSpPr/>
          <p:nvPr/>
        </p:nvSpPr>
        <p:spPr>
          <a:xfrm>
            <a:off x="11109960" y="5815584"/>
            <a:ext cx="2743200" cy="594360"/>
          </a:xfrm>
          <a:prstGeom prst="roundRect">
            <a:avLst>
              <a:gd name="adj" fmla="val 9231"/>
            </a:avLst>
          </a:prstGeom>
          <a:solidFill>
            <a:srgbClr val="FBEDD8"/>
          </a:solidFill>
          <a:ln/>
        </p:spPr>
      </p:sp>
      <p:sp>
        <p:nvSpPr>
          <p:cNvPr id="56" name="Text 46"/>
          <p:cNvSpPr/>
          <p:nvPr/>
        </p:nvSpPr>
        <p:spPr>
          <a:xfrm>
            <a:off x="11201400" y="5815584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B9760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Brownfield candidate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B9760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(existing firmware, safe change)</a:t>
            </a:r>
            <a:endParaRPr lang="en-US" sz="900" dirty="0"/>
          </a:p>
        </p:txBody>
      </p:sp>
      <p:sp>
        <p:nvSpPr>
          <p:cNvPr id="57" name="Text 47"/>
          <p:cNvSpPr/>
          <p:nvPr/>
        </p:nvSpPr>
        <p:spPr>
          <a:xfrm>
            <a:off x="7223760" y="675741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These six candidates carry forward into Module 5's greenfield &amp; brownfield hands-on labs.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Image 1" descr="/home/claude/work/staroute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0" y="201168"/>
            <a:ext cx="2514600" cy="501091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896112"/>
            <a:ext cx="14630400" cy="646480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548640" y="25603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CHAMPIONS PROGRAMME  |  MODULE 01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548640" y="1060704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Module 01 Outcomes &amp; What's Next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548640" y="1700784"/>
            <a:ext cx="1353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Everything below should be true before we open GitHub Copilot in Module 02.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6035040" y="7699248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HONEYWELL EMBEDDED ENGINEERING • AI CHAMPIONS PROGRAMME — MODULE 01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13121640" y="7452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13 / 14</a:t>
            </a:r>
            <a:endParaRPr lang="en-US" sz="1050" dirty="0"/>
          </a:p>
        </p:txBody>
      </p:sp>
      <p:pic>
        <p:nvPicPr>
          <p:cNvPr id="10" name="Image 2" descr="/home/claude/work/niit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0280" y="7479792"/>
            <a:ext cx="603504" cy="349301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48640" y="2194560"/>
            <a:ext cx="420624" cy="420624"/>
          </a:xfrm>
          <a:prstGeom prst="ellipse">
            <a:avLst/>
          </a:prstGeom>
          <a:solidFill>
            <a:srgbClr val="1E8A5F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12" name="Image 3" descr="/home/claude/work/icons/badgeche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90" y="2295510"/>
            <a:ext cx="218724" cy="21872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15568" y="2167128"/>
            <a:ext cx="6016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Enterprise context &amp; business case for AI-assisted embedded engineering established</a:t>
            </a:r>
            <a:endParaRPr lang="en-US" sz="1180" dirty="0"/>
          </a:p>
        </p:txBody>
      </p:sp>
      <p:sp>
        <p:nvSpPr>
          <p:cNvPr id="14" name="Shape 8"/>
          <p:cNvSpPr/>
          <p:nvPr/>
        </p:nvSpPr>
        <p:spPr>
          <a:xfrm>
            <a:off x="7498080" y="2194560"/>
            <a:ext cx="420624" cy="420624"/>
          </a:xfrm>
          <a:prstGeom prst="ellipse">
            <a:avLst/>
          </a:prstGeom>
          <a:solidFill>
            <a:srgbClr val="1E8A5F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15" name="Image 4" descr="/home/claude/work/icons/badgecheck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9030" y="2295510"/>
            <a:ext cx="218724" cy="21872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065008" y="2167128"/>
            <a:ext cx="6016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Champion / Evangelist / Sponsor persona model understood, cohort roles named</a:t>
            </a:r>
            <a:endParaRPr lang="en-US" sz="1180" dirty="0"/>
          </a:p>
        </p:txBody>
      </p:sp>
      <p:sp>
        <p:nvSpPr>
          <p:cNvPr id="17" name="Shape 10"/>
          <p:cNvSpPr/>
          <p:nvPr/>
        </p:nvSpPr>
        <p:spPr>
          <a:xfrm>
            <a:off x="548640" y="2907792"/>
            <a:ext cx="420624" cy="420624"/>
          </a:xfrm>
          <a:prstGeom prst="ellipse">
            <a:avLst/>
          </a:prstGeom>
          <a:solidFill>
            <a:srgbClr val="1E8A5F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18" name="Image 5" descr="/home/claude/work/icons/badgecheck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590" y="3008742"/>
            <a:ext cx="218724" cy="21872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115568" y="2880360"/>
            <a:ext cx="6016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Role-based expectations set for Architects, Developers, Testers, DevOps/SRE, Leads</a:t>
            </a:r>
            <a:endParaRPr lang="en-US" sz="1180" dirty="0"/>
          </a:p>
        </p:txBody>
      </p:sp>
      <p:sp>
        <p:nvSpPr>
          <p:cNvPr id="20" name="Shape 12"/>
          <p:cNvSpPr/>
          <p:nvPr/>
        </p:nvSpPr>
        <p:spPr>
          <a:xfrm>
            <a:off x="7498080" y="2907792"/>
            <a:ext cx="420624" cy="420624"/>
          </a:xfrm>
          <a:prstGeom prst="ellipse">
            <a:avLst/>
          </a:prstGeom>
          <a:solidFill>
            <a:srgbClr val="1E8A5F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21" name="Image 6" descr="/home/claude/work/icons/badgecheck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9030" y="3008742"/>
            <a:ext cx="218724" cy="21872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8065008" y="2880360"/>
            <a:ext cx="6016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Business &amp; engineering risks of unmanaged AI usage named and owned</a:t>
            </a:r>
            <a:endParaRPr lang="en-US" sz="1180" dirty="0"/>
          </a:p>
        </p:txBody>
      </p:sp>
      <p:sp>
        <p:nvSpPr>
          <p:cNvPr id="23" name="Shape 14"/>
          <p:cNvSpPr/>
          <p:nvPr/>
        </p:nvSpPr>
        <p:spPr>
          <a:xfrm>
            <a:off x="548640" y="3621024"/>
            <a:ext cx="420624" cy="420624"/>
          </a:xfrm>
          <a:prstGeom prst="ellipse">
            <a:avLst/>
          </a:prstGeom>
          <a:solidFill>
            <a:srgbClr val="1E8A5F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24" name="Image 7" descr="/home/claude/work/icons/badgecheck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590" y="3721974"/>
            <a:ext cx="218724" cy="218724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1115568" y="3593592"/>
            <a:ext cx="6016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Embedded delivery lifecycle pain points mapped stage by stage</a:t>
            </a:r>
            <a:endParaRPr lang="en-US" sz="1180" dirty="0"/>
          </a:p>
        </p:txBody>
      </p:sp>
      <p:sp>
        <p:nvSpPr>
          <p:cNvPr id="26" name="Shape 16"/>
          <p:cNvSpPr/>
          <p:nvPr/>
        </p:nvSpPr>
        <p:spPr>
          <a:xfrm>
            <a:off x="7498080" y="3621024"/>
            <a:ext cx="420624" cy="420624"/>
          </a:xfrm>
          <a:prstGeom prst="ellipse">
            <a:avLst/>
          </a:prstGeom>
          <a:solidFill>
            <a:srgbClr val="1E8A5F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27" name="Image 8" descr="/home/claude/work/icons/badgecheck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99030" y="3721974"/>
            <a:ext cx="218724" cy="218724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8065008" y="3593592"/>
            <a:ext cx="6016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Agent Prism introduced as the monitoring lens for the rest of the programme</a:t>
            </a:r>
            <a:endParaRPr lang="en-US" sz="1180" dirty="0"/>
          </a:p>
        </p:txBody>
      </p:sp>
      <p:sp>
        <p:nvSpPr>
          <p:cNvPr id="29" name="Shape 18"/>
          <p:cNvSpPr/>
          <p:nvPr/>
        </p:nvSpPr>
        <p:spPr>
          <a:xfrm>
            <a:off x="548640" y="4334256"/>
            <a:ext cx="420624" cy="420624"/>
          </a:xfrm>
          <a:prstGeom prst="ellipse">
            <a:avLst/>
          </a:prstGeom>
          <a:solidFill>
            <a:srgbClr val="1E8A5F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30" name="Image 9" descr="/home/claude/work/icons/badgecheck_FFFFFF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590" y="4435206"/>
            <a:ext cx="218724" cy="218724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1115568" y="4306824"/>
            <a:ext cx="6016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Current-state → target-state workflow canvas drafted, by GBE</a:t>
            </a:r>
            <a:endParaRPr lang="en-US" sz="1180" dirty="0"/>
          </a:p>
        </p:txBody>
      </p:sp>
      <p:sp>
        <p:nvSpPr>
          <p:cNvPr id="32" name="Shape 20"/>
          <p:cNvSpPr/>
          <p:nvPr/>
        </p:nvSpPr>
        <p:spPr>
          <a:xfrm>
            <a:off x="7498080" y="4334256"/>
            <a:ext cx="420624" cy="420624"/>
          </a:xfrm>
          <a:prstGeom prst="ellipse">
            <a:avLst/>
          </a:prstGeom>
          <a:solidFill>
            <a:srgbClr val="1E8A5F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33" name="Image 10" descr="/home/claude/work/icons/badgecheck_FFFFFF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99030" y="4435206"/>
            <a:ext cx="218724" cy="218724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8065008" y="4306824"/>
            <a:ext cx="6016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Success-metrics worksheet + 6 representative greenfield/brownfield use cases drafted</a:t>
            </a:r>
            <a:endParaRPr lang="en-US" sz="1180" dirty="0"/>
          </a:p>
        </p:txBody>
      </p:sp>
      <p:sp>
        <p:nvSpPr>
          <p:cNvPr id="35" name="Shape 22"/>
          <p:cNvSpPr/>
          <p:nvPr/>
        </p:nvSpPr>
        <p:spPr>
          <a:xfrm>
            <a:off x="548640" y="5276088"/>
            <a:ext cx="13533120" cy="1051560"/>
          </a:xfrm>
          <a:prstGeom prst="roundRect">
            <a:avLst>
              <a:gd name="adj" fmla="val 7826"/>
            </a:avLst>
          </a:prstGeom>
          <a:solidFill>
            <a:srgbClr val="0B3D7A"/>
          </a:solidFill>
          <a:ln/>
        </p:spPr>
      </p:sp>
      <p:sp>
        <p:nvSpPr>
          <p:cNvPr id="36" name="Shape 23"/>
          <p:cNvSpPr/>
          <p:nvPr/>
        </p:nvSpPr>
        <p:spPr>
          <a:xfrm>
            <a:off x="822960" y="5477256"/>
            <a:ext cx="640080" cy="640080"/>
          </a:xfrm>
          <a:prstGeom prst="ellipse">
            <a:avLst/>
          </a:prstGeom>
          <a:solidFill>
            <a:srgbClr val="F15719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37" name="Image 11" descr="/home/claude/work/icons/rocket_FFFFFF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6579" y="5630875"/>
            <a:ext cx="332842" cy="332842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1691640" y="5422392"/>
            <a:ext cx="1211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NEXT — MODULE 02: GITHUB COPILOT ENTERPRISE FEATURES FOR EMBEDDED ENGINEERING</a:t>
            </a:r>
            <a:endParaRPr lang="en-US" sz="1350" dirty="0"/>
          </a:p>
        </p:txBody>
      </p:sp>
      <p:sp>
        <p:nvSpPr>
          <p:cNvPr id="39" name="Text 25"/>
          <p:cNvSpPr/>
          <p:nvPr/>
        </p:nvSpPr>
        <p:spPr>
          <a:xfrm>
            <a:off x="1691640" y="5806440"/>
            <a:ext cx="1211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E0F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2 hours · Hands-on with chat, inline assist, code explanation, refactoring, debugging, test generation &amp; agent mode on a sample C/C++ embedded repository.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Image 1" descr="/home/claude/work/staroute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0" y="201168"/>
            <a:ext cx="2514600" cy="50109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291840"/>
            <a:ext cx="1353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Questions &amp; Discussion</a:t>
            </a:r>
            <a:endParaRPr lang="en-US" sz="4400" dirty="0"/>
          </a:p>
        </p:txBody>
      </p:sp>
      <p:sp>
        <p:nvSpPr>
          <p:cNvPr id="5" name="Text 1"/>
          <p:cNvSpPr/>
          <p:nvPr/>
        </p:nvSpPr>
        <p:spPr>
          <a:xfrm>
            <a:off x="548640" y="416052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7ECF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Module 01 — AI Champions Kick-off &amp; Embedded Engineering Enterprise Context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548640" y="7223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F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NIIT StackRoute × RPS Programme Design  |  Stalwart Learning Delivery  |  Honeywell Embedded Engineering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2026-08-24T11:12:25Z</dcterms:created>
  <dcterms:modified xsi:type="dcterms:W3CDTF">2026-08-24T11:12:25Z</dcterms:modified>
</cp:coreProperties>
</file>