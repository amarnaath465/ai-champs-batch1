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4.png"/><Relationship Id="rId6" Type="http://schemas.openxmlformats.org/officeDocument/2006/relationships/image" Target="../media/image-13-4.png"/><Relationship Id="rId7" Type="http://schemas.openxmlformats.org/officeDocument/2006/relationships/image" Target="../media/image-13-4.png"/><Relationship Id="rId8" Type="http://schemas.openxmlformats.org/officeDocument/2006/relationships/image" Target="../media/image-13-4.png"/><Relationship Id="rId9" Type="http://schemas.openxmlformats.org/officeDocument/2006/relationships/image" Target="../media/image-13-4.png"/><Relationship Id="rId10" Type="http://schemas.openxmlformats.org/officeDocument/2006/relationships/image" Target="../media/image-13-4.png"/><Relationship Id="rId11" Type="http://schemas.openxmlformats.org/officeDocument/2006/relationships/image" Target="../media/image-13-4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41732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8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TEAMS  —  PA · IA · BA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48640" y="1965960"/>
            <a:ext cx="1325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26060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02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48640" y="3520440"/>
            <a:ext cx="1353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GitHub Copilot Enterprise Features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 Embedded Engineering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48640" y="5029200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7ECF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Turning a familiar autocomplete tool into a disciplined engineering partner — across C/C++ source, headers, build systems, and your existing engineering conventions.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548640" y="6080760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0" name="Image 2" descr="/home/claude/work/icons/tim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904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6062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143000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 Hours · Module 2 of 11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709160" y="6080760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4" name="Image 3" descr="/home/claude/work/icons/termina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1904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03520" y="6062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FORMAT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5303520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Hands-On Lab + Guided Demo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869680" y="6080760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8" name="Image 4" descr="/home/claude/work/icons/buildin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619048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64040" y="6062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DELIVERED FOR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9464040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48640" y="7178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NIIT StackRoute × RPS Programme Design  |  Stalwart Learning Delivery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How We'll Spend These Two Hours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Six connected moves — from a capability map to a measured comparison against solo work.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04672" y="245059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2586655"/>
            <a:ext cx="294803" cy="294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38600" y="2377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04672" y="312724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Capability Map Walkthrough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04672" y="36118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17" name="Text 11"/>
          <p:cNvSpPr/>
          <p:nvPr/>
        </p:nvSpPr>
        <p:spPr>
          <a:xfrm>
            <a:off x="804672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15 min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804672" y="400507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Chat, inline assist, explain, refactor, debug, test-gen, agent mode, reusable skills — one map, no guesswork later.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181600" y="219456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37632" y="245059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1" name="Image 4" descr="/home/claude/work/icons/filecod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695" y="2586655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71560" y="2377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5437632" y="312724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Generate, Explain &amp; Refactor Live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437632" y="36118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25" name="Text 18"/>
          <p:cNvSpPr/>
          <p:nvPr/>
        </p:nvSpPr>
        <p:spPr>
          <a:xfrm>
            <a:off x="5437632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 min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437632" y="400507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 the sample C/C++ repo: generate a function, explain an unfamiliar module, refactor safely.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9814560" y="219456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0070592" y="245059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9" name="Image 5" descr="/home/claude/work/icons/bu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655" y="2586655"/>
            <a:ext cx="294803" cy="29480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304520" y="2377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10070592" y="312724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Debug a Real Defect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10070592" y="36118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33" name="Text 25"/>
          <p:cNvSpPr/>
          <p:nvPr/>
        </p:nvSpPr>
        <p:spPr>
          <a:xfrm>
            <a:off x="10070592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 min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0070592" y="400507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Hunt and fix an injected defect in the driver layer with Copilot chat + inline assist.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484632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04672" y="510235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7" name="Image 6" descr="/home/claude/work/icons/flas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735" y="5238415"/>
            <a:ext cx="294803" cy="29480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38600" y="5029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804672" y="577900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Generate Tests &amp; Review a PR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804672" y="62636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41" name="Text 32"/>
          <p:cNvSpPr/>
          <p:nvPr/>
        </p:nvSpPr>
        <p:spPr>
          <a:xfrm>
            <a:off x="804672" y="6263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 min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804672" y="665683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Host-based test generation, plus a Copilot-assisted PR / code-review pass.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5181600" y="484632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5437632" y="510235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5" name="Image 7" descr="/home/claude/work/icons/bot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3695" y="5238415"/>
            <a:ext cx="294803" cy="294803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8671560" y="5029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</a:t>
            </a:r>
            <a:endParaRPr lang="en-US" sz="1800" dirty="0"/>
          </a:p>
        </p:txBody>
      </p:sp>
      <p:sp>
        <p:nvSpPr>
          <p:cNvPr id="47" name="Text 37"/>
          <p:cNvSpPr/>
          <p:nvPr/>
        </p:nvSpPr>
        <p:spPr>
          <a:xfrm>
            <a:off x="5437632" y="577900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Mode on a Repository Task</a:t>
            </a:r>
            <a:endParaRPr lang="en-US" sz="1500" dirty="0"/>
          </a:p>
        </p:txBody>
      </p:sp>
      <p:sp>
        <p:nvSpPr>
          <p:cNvPr id="48" name="Shape 38"/>
          <p:cNvSpPr/>
          <p:nvPr/>
        </p:nvSpPr>
        <p:spPr>
          <a:xfrm>
            <a:off x="5437632" y="62636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49" name="Text 39"/>
          <p:cNvSpPr/>
          <p:nvPr/>
        </p:nvSpPr>
        <p:spPr>
          <a:xfrm>
            <a:off x="5437632" y="6263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25 min</a:t>
            </a:r>
            <a:endParaRPr lang="en-US" sz="1050" dirty="0"/>
          </a:p>
        </p:txBody>
      </p:sp>
      <p:sp>
        <p:nvSpPr>
          <p:cNvPr id="50" name="Text 40"/>
          <p:cNvSpPr/>
          <p:nvPr/>
        </p:nvSpPr>
        <p:spPr>
          <a:xfrm>
            <a:off x="5437632" y="665683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Hand Copilot a scoped, repository-aware task and supervise it end-to-end.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9814560" y="4846320"/>
            <a:ext cx="42672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10070592" y="5102352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53" name="Image 8" descr="/home/claude/work/icons/gitcompare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655" y="5238415"/>
            <a:ext cx="294803" cy="294803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3304520" y="5029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</a:t>
            </a:r>
            <a:endParaRPr lang="en-US" sz="1800" dirty="0"/>
          </a:p>
        </p:txBody>
      </p:sp>
      <p:sp>
        <p:nvSpPr>
          <p:cNvPr id="55" name="Text 44"/>
          <p:cNvSpPr/>
          <p:nvPr/>
        </p:nvSpPr>
        <p:spPr>
          <a:xfrm>
            <a:off x="10070592" y="5779008"/>
            <a:ext cx="3755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Manual vs AI-Assisted Comparison</a:t>
            </a:r>
            <a:endParaRPr lang="en-US" sz="1500" dirty="0"/>
          </a:p>
        </p:txBody>
      </p:sp>
      <p:sp>
        <p:nvSpPr>
          <p:cNvPr id="56" name="Shape 45"/>
          <p:cNvSpPr/>
          <p:nvPr/>
        </p:nvSpPr>
        <p:spPr>
          <a:xfrm>
            <a:off x="10070592" y="62636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57" name="Text 46"/>
          <p:cNvSpPr/>
          <p:nvPr/>
        </p:nvSpPr>
        <p:spPr>
          <a:xfrm>
            <a:off x="10070592" y="6263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 min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10070592" y="6656832"/>
            <a:ext cx="3755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Time, quality &amp; confidence — measured against Module 01's cohort baseline.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02 in the 11-Module Journey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Capability-building before discipline — Module 03 recaps prompting, Module 04 adds the specification layer.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2514600"/>
            <a:ext cx="4738255" cy="365760"/>
          </a:xfrm>
          <a:prstGeom prst="roundRect">
            <a:avLst>
              <a:gd name="adj" fmla="val 17500"/>
            </a:avLst>
          </a:prstGeom>
          <a:solidFill>
            <a:srgbClr val="0B3D7A">
              <a:alpha val="12000"/>
            </a:srgbClr>
          </a:solidFill>
          <a:ln w="12700">
            <a:solidFill>
              <a:srgbClr val="0B3D7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2514600"/>
            <a:ext cx="473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561215" y="2514600"/>
            <a:ext cx="2277687" cy="365760"/>
          </a:xfrm>
          <a:prstGeom prst="roundRect">
            <a:avLst>
              <a:gd name="adj" fmla="val 17500"/>
            </a:avLst>
          </a:prstGeom>
          <a:solidFill>
            <a:srgbClr val="1257C6">
              <a:alpha val="12000"/>
            </a:srgbClr>
          </a:solidFill>
          <a:ln w="12700">
            <a:solidFill>
              <a:srgbClr val="1257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561215" y="2514600"/>
            <a:ext cx="2277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1257C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 &amp; VALIDATE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21782" y="2514600"/>
            <a:ext cx="4738255" cy="365760"/>
          </a:xfrm>
          <a:prstGeom prst="roundRect">
            <a:avLst>
              <a:gd name="adj" fmla="val 17500"/>
            </a:avLst>
          </a:prstGeom>
          <a:solidFill>
            <a:srgbClr val="5B5FA6">
              <a:alpha val="12000"/>
            </a:srgbClr>
          </a:solidFill>
          <a:ln w="12700">
            <a:solidFill>
              <a:srgbClr val="5B5FA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21782" y="2514600"/>
            <a:ext cx="473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SCALE &amp; GOVERN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2942916" y="2514600"/>
            <a:ext cx="1047404" cy="365760"/>
          </a:xfrm>
          <a:prstGeom prst="roundRect">
            <a:avLst>
              <a:gd name="adj" fmla="val 17500"/>
            </a:avLst>
          </a:prstGeom>
          <a:solidFill>
            <a:srgbClr val="F15719">
              <a:alpha val="12000"/>
            </a:srgbClr>
          </a:solidFill>
          <a:ln w="12700">
            <a:solidFill>
              <a:srgbClr val="F1571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2942916" y="2514600"/>
            <a:ext cx="1047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1571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CAPSTONE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163782" y="3589020"/>
            <a:ext cx="12302836" cy="0"/>
          </a:xfrm>
          <a:prstGeom prst="line">
            <a:avLst/>
          </a:prstGeom>
          <a:noFill/>
          <a:ln w="31750">
            <a:solidFill>
              <a:srgbClr val="B7B9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5162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75162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11480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Kick-off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1923149" y="3118104"/>
            <a:ext cx="941832" cy="941832"/>
          </a:xfrm>
          <a:prstGeom prst="ellipse">
            <a:avLst/>
          </a:prstGeom>
          <a:solidFill>
            <a:srgbClr val="F15719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1923149" y="3118104"/>
            <a:ext cx="941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641764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571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Copilot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571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235729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3235729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872047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Prompt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Context Recap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466013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4466013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4102331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Spec-Driven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696296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5696296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5332615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Greenfield →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Brownfield SDLC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926580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692658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6562898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Embedded Test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Strategy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8156864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8156864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7793182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MCP-Enabled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Agentic Eng.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387147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9387147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9023465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 Automation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&amp; LLM-as-Judge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10617431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45" name="Text 40"/>
          <p:cNvSpPr/>
          <p:nvPr/>
        </p:nvSpPr>
        <p:spPr>
          <a:xfrm>
            <a:off x="10617431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Text 41"/>
          <p:cNvSpPr/>
          <p:nvPr/>
        </p:nvSpPr>
        <p:spPr>
          <a:xfrm>
            <a:off x="10253749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Prism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11847715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48" name="Text 43"/>
          <p:cNvSpPr/>
          <p:nvPr/>
        </p:nvSpPr>
        <p:spPr>
          <a:xfrm>
            <a:off x="11847715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</a:t>
            </a:r>
            <a:endParaRPr lang="en-US" sz="1600" dirty="0"/>
          </a:p>
        </p:txBody>
      </p:sp>
      <p:sp>
        <p:nvSpPr>
          <p:cNvPr id="49" name="Text 44"/>
          <p:cNvSpPr/>
          <p:nvPr/>
        </p:nvSpPr>
        <p:spPr>
          <a:xfrm>
            <a:off x="11484033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ROI &amp; Token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Economics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13077998" y="3200400"/>
            <a:ext cx="777240" cy="777240"/>
          </a:xfrm>
          <a:prstGeom prst="ellipse">
            <a:avLst/>
          </a:prstGeom>
          <a:solidFill>
            <a:srgbClr val="0B3D7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51" name="Text 46"/>
          <p:cNvSpPr/>
          <p:nvPr/>
        </p:nvSpPr>
        <p:spPr>
          <a:xfrm>
            <a:off x="13077998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12714316" y="4142232"/>
            <a:ext cx="1504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Capstone &amp;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Roadmap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548640" y="6537960"/>
            <a:ext cx="13533120" cy="868680"/>
          </a:xfrm>
          <a:prstGeom prst="roundRect">
            <a:avLst>
              <a:gd name="adj" fmla="val 9474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4" name="Text 49"/>
          <p:cNvSpPr/>
          <p:nvPr/>
        </p:nvSpPr>
        <p:spPr>
          <a:xfrm>
            <a:off x="822960" y="6537960"/>
            <a:ext cx="1298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Why this matters: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 later module assumes fluency with these Copilot capabilities. The context-engineering work in Module 03 and the SDD workflow in Module 04 are built directly on top of chat, inline assist, and agent mode — not around them.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GitHub Copilot Enterprise: The Capability Map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Thirteen capabilities, five clusters — the vocabulary we'll use for the rest of the programme.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4114800" cy="2514600"/>
          </a:xfrm>
          <a:prstGeom prst="roundRect">
            <a:avLst>
              <a:gd name="adj" fmla="val 3273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68096" y="2414016"/>
            <a:ext cx="566928" cy="566928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message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59" y="2550079"/>
            <a:ext cx="294803" cy="294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8096" y="3108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Conversational &amp; Inline Assistance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786384" y="3749040"/>
            <a:ext cx="82296" cy="82296"/>
          </a:xfrm>
          <a:prstGeom prst="ellipse">
            <a:avLst/>
          </a:prstGeom>
          <a:solidFill>
            <a:srgbClr val="0B3D7A"/>
          </a:solidFill>
          <a:ln/>
        </p:spPr>
      </p:sp>
      <p:sp>
        <p:nvSpPr>
          <p:cNvPr id="16" name="Text 10"/>
          <p:cNvSpPr/>
          <p:nvPr/>
        </p:nvSpPr>
        <p:spPr>
          <a:xfrm>
            <a:off x="969264" y="36210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Chat / Conversation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786384" y="4069080"/>
            <a:ext cx="82296" cy="82296"/>
          </a:xfrm>
          <a:prstGeom prst="ellipse">
            <a:avLst/>
          </a:prstGeom>
          <a:solidFill>
            <a:srgbClr val="0B3D7A"/>
          </a:solidFill>
          <a:ln/>
        </p:spPr>
      </p:sp>
      <p:sp>
        <p:nvSpPr>
          <p:cNvPr id="18" name="Text 12"/>
          <p:cNvSpPr/>
          <p:nvPr/>
        </p:nvSpPr>
        <p:spPr>
          <a:xfrm>
            <a:off x="969264" y="3941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Inline Code Assistance</a:t>
            </a:r>
            <a:endParaRPr lang="en-US" sz="1080" dirty="0"/>
          </a:p>
        </p:txBody>
      </p:sp>
      <p:sp>
        <p:nvSpPr>
          <p:cNvPr id="19" name="Shape 13"/>
          <p:cNvSpPr/>
          <p:nvPr/>
        </p:nvSpPr>
        <p:spPr>
          <a:xfrm>
            <a:off x="786384" y="4389120"/>
            <a:ext cx="82296" cy="82296"/>
          </a:xfrm>
          <a:prstGeom prst="ellipse">
            <a:avLst/>
          </a:prstGeom>
          <a:solidFill>
            <a:srgbClr val="0B3D7A"/>
          </a:solidFill>
          <a:ln/>
        </p:spPr>
      </p:sp>
      <p:sp>
        <p:nvSpPr>
          <p:cNvPr id="20" name="Text 14"/>
          <p:cNvSpPr/>
          <p:nvPr/>
        </p:nvSpPr>
        <p:spPr>
          <a:xfrm>
            <a:off x="969264" y="42611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Code Explanation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4919472" y="2194560"/>
            <a:ext cx="4114800" cy="2514600"/>
          </a:xfrm>
          <a:prstGeom prst="roundRect">
            <a:avLst>
              <a:gd name="adj" fmla="val 3273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138928" y="2414016"/>
            <a:ext cx="566928" cy="566928"/>
          </a:xfrm>
          <a:prstGeom prst="ellipse">
            <a:avLst/>
          </a:prstGeom>
          <a:solidFill>
            <a:srgbClr val="1257C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3" name="Image 4" descr="/home/claude/work/icons/wan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4991" y="2550079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38928" y="3108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Code Quality Assistance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157216" y="3749040"/>
            <a:ext cx="82296" cy="82296"/>
          </a:xfrm>
          <a:prstGeom prst="ellipse">
            <a:avLst/>
          </a:prstGeom>
          <a:solidFill>
            <a:srgbClr val="1257C6"/>
          </a:solidFill>
          <a:ln/>
        </p:spPr>
      </p:sp>
      <p:sp>
        <p:nvSpPr>
          <p:cNvPr id="26" name="Text 19"/>
          <p:cNvSpPr/>
          <p:nvPr/>
        </p:nvSpPr>
        <p:spPr>
          <a:xfrm>
            <a:off x="5340096" y="36210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Refactoring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5157216" y="4069080"/>
            <a:ext cx="82296" cy="82296"/>
          </a:xfrm>
          <a:prstGeom prst="ellipse">
            <a:avLst/>
          </a:prstGeom>
          <a:solidFill>
            <a:srgbClr val="1257C6"/>
          </a:solidFill>
          <a:ln/>
        </p:spPr>
      </p:sp>
      <p:sp>
        <p:nvSpPr>
          <p:cNvPr id="28" name="Text 21"/>
          <p:cNvSpPr/>
          <p:nvPr/>
        </p:nvSpPr>
        <p:spPr>
          <a:xfrm>
            <a:off x="5340096" y="3941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Debugging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5157216" y="4389120"/>
            <a:ext cx="82296" cy="82296"/>
          </a:xfrm>
          <a:prstGeom prst="ellipse">
            <a:avLst/>
          </a:prstGeom>
          <a:solidFill>
            <a:srgbClr val="1257C6"/>
          </a:solidFill>
          <a:ln/>
        </p:spPr>
      </p:sp>
      <p:sp>
        <p:nvSpPr>
          <p:cNvPr id="30" name="Text 23"/>
          <p:cNvSpPr/>
          <p:nvPr/>
        </p:nvSpPr>
        <p:spPr>
          <a:xfrm>
            <a:off x="5340096" y="42611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Test Generation</a:t>
            </a:r>
            <a:endParaRPr lang="en-US" sz="1080" dirty="0"/>
          </a:p>
        </p:txBody>
      </p:sp>
      <p:sp>
        <p:nvSpPr>
          <p:cNvPr id="31" name="Shape 24"/>
          <p:cNvSpPr/>
          <p:nvPr/>
        </p:nvSpPr>
        <p:spPr>
          <a:xfrm>
            <a:off x="9290304" y="2194560"/>
            <a:ext cx="4114800" cy="2514600"/>
          </a:xfrm>
          <a:prstGeom prst="roundRect">
            <a:avLst>
              <a:gd name="adj" fmla="val 3273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509760" y="2414016"/>
            <a:ext cx="566928" cy="566928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3" name="Image 5" descr="/home/claude/work/icons/bo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5823" y="2550079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509760" y="3108960"/>
            <a:ext cx="3675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Autonomous &amp; Repository-Aware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9528048" y="3749040"/>
            <a:ext cx="82296" cy="82296"/>
          </a:xfrm>
          <a:prstGeom prst="ellipse">
            <a:avLst/>
          </a:prstGeom>
          <a:solidFill>
            <a:srgbClr val="F15719"/>
          </a:solidFill>
          <a:ln/>
        </p:spPr>
      </p:sp>
      <p:sp>
        <p:nvSpPr>
          <p:cNvPr id="36" name="Text 28"/>
          <p:cNvSpPr/>
          <p:nvPr/>
        </p:nvSpPr>
        <p:spPr>
          <a:xfrm>
            <a:off x="9710928" y="36210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Mode</a:t>
            </a:r>
            <a:endParaRPr lang="en-US" sz="1080" dirty="0"/>
          </a:p>
        </p:txBody>
      </p:sp>
      <p:sp>
        <p:nvSpPr>
          <p:cNvPr id="37" name="Shape 29"/>
          <p:cNvSpPr/>
          <p:nvPr/>
        </p:nvSpPr>
        <p:spPr>
          <a:xfrm>
            <a:off x="9528048" y="4069080"/>
            <a:ext cx="82296" cy="82296"/>
          </a:xfrm>
          <a:prstGeom prst="ellipse">
            <a:avLst/>
          </a:prstGeom>
          <a:solidFill>
            <a:srgbClr val="F15719"/>
          </a:solidFill>
          <a:ln/>
        </p:spPr>
      </p:sp>
      <p:sp>
        <p:nvSpPr>
          <p:cNvPr id="38" name="Text 30"/>
          <p:cNvSpPr/>
          <p:nvPr/>
        </p:nvSpPr>
        <p:spPr>
          <a:xfrm>
            <a:off x="9710928" y="3941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Repository-Aware Assistance</a:t>
            </a:r>
            <a:endParaRPr lang="en-US" sz="1080" dirty="0"/>
          </a:p>
        </p:txBody>
      </p:sp>
      <p:sp>
        <p:nvSpPr>
          <p:cNvPr id="39" name="Shape 31"/>
          <p:cNvSpPr/>
          <p:nvPr/>
        </p:nvSpPr>
        <p:spPr>
          <a:xfrm>
            <a:off x="9528048" y="4389120"/>
            <a:ext cx="82296" cy="82296"/>
          </a:xfrm>
          <a:prstGeom prst="ellipse">
            <a:avLst/>
          </a:prstGeom>
          <a:solidFill>
            <a:srgbClr val="F15719"/>
          </a:solidFill>
          <a:ln/>
        </p:spPr>
      </p:sp>
      <p:sp>
        <p:nvSpPr>
          <p:cNvPr id="40" name="Text 32"/>
          <p:cNvSpPr/>
          <p:nvPr/>
        </p:nvSpPr>
        <p:spPr>
          <a:xfrm>
            <a:off x="9710928" y="42611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 / Task Selection</a:t>
            </a:r>
            <a:endParaRPr lang="en-US" sz="1080" dirty="0"/>
          </a:p>
        </p:txBody>
      </p:sp>
      <p:sp>
        <p:nvSpPr>
          <p:cNvPr id="41" name="Shape 33"/>
          <p:cNvSpPr/>
          <p:nvPr/>
        </p:nvSpPr>
        <p:spPr>
          <a:xfrm>
            <a:off x="2734056" y="4983480"/>
            <a:ext cx="4114800" cy="1737360"/>
          </a:xfrm>
          <a:prstGeom prst="roundRect">
            <a:avLst>
              <a:gd name="adj" fmla="val 4737"/>
            </a:avLst>
          </a:prstGeom>
          <a:solidFill>
            <a:srgbClr val="F4F6FD"/>
          </a:solidFill>
          <a:ln w="12700">
            <a:solidFill>
              <a:srgbClr val="5B5FA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2953512" y="5202936"/>
            <a:ext cx="530352" cy="530352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3" name="Image 6" descr="/home/claude/work/icons/github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0796" y="5330220"/>
            <a:ext cx="275783" cy="275783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361188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Workflow Integration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2953512" y="5897880"/>
            <a:ext cx="3675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GitHub.com Workflows   ·   Terminal / CLI Workflows   ·   PR / Code-Review Assistance</a:t>
            </a:r>
            <a:endParaRPr lang="en-US" sz="1030" dirty="0"/>
          </a:p>
        </p:txBody>
      </p:sp>
      <p:sp>
        <p:nvSpPr>
          <p:cNvPr id="46" name="Shape 37"/>
          <p:cNvSpPr/>
          <p:nvPr/>
        </p:nvSpPr>
        <p:spPr>
          <a:xfrm>
            <a:off x="7104888" y="4983480"/>
            <a:ext cx="4114800" cy="1737360"/>
          </a:xfrm>
          <a:prstGeom prst="roundRect">
            <a:avLst>
              <a:gd name="adj" fmla="val 4737"/>
            </a:avLst>
          </a:prstGeom>
          <a:solidFill>
            <a:srgbClr val="F4F6FD"/>
          </a:solidFill>
          <a:ln w="12700">
            <a:solidFill>
              <a:srgbClr val="1E8A5F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7324344" y="5202936"/>
            <a:ext cx="530352" cy="530352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8" name="Image 7" descr="/home/claude/work/icons/shield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1628" y="5330220"/>
            <a:ext cx="275783" cy="275783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982712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Reuse &amp; Governance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7324344" y="5897880"/>
            <a:ext cx="3675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Custom / Reusable Instructions &amp; Skills   ·   Safe Enterprise Usage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Where Copilot Touches Your Embedded Repository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same seven surfaces recur across every hands-on exercise this week.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783080" y="3200400"/>
            <a:ext cx="2103120" cy="2103120"/>
          </a:xfrm>
          <a:prstGeom prst="ellipse">
            <a:avLst/>
          </a:prstGeom>
          <a:solidFill>
            <a:srgbClr val="0B3D7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25000"/>
              </a:srgbClr>
            </a:outerShdw>
          </a:effectLst>
        </p:spPr>
      </p:sp>
      <p:pic>
        <p:nvPicPr>
          <p:cNvPr id="12" name="Image 3" descr="/home/claude/work/icons/foldergi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3593592"/>
            <a:ext cx="822960" cy="8229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83080" y="4507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SAMPLE C/C++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REPOSITORY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3840480" y="4251960"/>
            <a:ext cx="1645920" cy="-1682496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94960" y="2286000"/>
            <a:ext cx="8686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522976" y="2368296"/>
            <a:ext cx="402336" cy="402336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7" name="Image 4" descr="/home/claude/work/icons/filecod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537" y="2464857"/>
            <a:ext cx="209215" cy="2092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35040" y="2331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 &amp; Header Files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6035040" y="25786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.c/.h pairs Copilot reads together for interface-consistent suggestions.</a:t>
            </a:r>
            <a:endParaRPr lang="en-US" sz="930" dirty="0"/>
          </a:p>
        </p:txBody>
      </p:sp>
      <p:sp>
        <p:nvSpPr>
          <p:cNvPr id="20" name="Shape 13"/>
          <p:cNvSpPr/>
          <p:nvPr/>
        </p:nvSpPr>
        <p:spPr>
          <a:xfrm>
            <a:off x="3840480" y="4251960"/>
            <a:ext cx="1645920" cy="-1005840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5394960" y="2962656"/>
            <a:ext cx="8686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522976" y="3044952"/>
            <a:ext cx="402336" cy="402336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3" name="Image 5" descr="/home/claude/work/icons/lin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537" y="3141513"/>
            <a:ext cx="209215" cy="2092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035040" y="30083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Interfaces &amp; Contracts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6035040" y="32552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Function signatures, structs &amp; typedefs that define what “correct” looks like.</a:t>
            </a:r>
            <a:endParaRPr lang="en-US" sz="930" dirty="0"/>
          </a:p>
        </p:txBody>
      </p:sp>
      <p:sp>
        <p:nvSpPr>
          <p:cNvPr id="26" name="Shape 18"/>
          <p:cNvSpPr/>
          <p:nvPr/>
        </p:nvSpPr>
        <p:spPr>
          <a:xfrm>
            <a:off x="3840480" y="4251960"/>
            <a:ext cx="1645920" cy="-329184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394960" y="3639312"/>
            <a:ext cx="8686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522976" y="3721608"/>
            <a:ext cx="402336" cy="402336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9" name="Image 6" descr="/home/claude/work/icons/setting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537" y="3818169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035040" y="3685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Configuration Files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035040" y="39319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 flags, Kconfig / prj.conf-style settings that shape what code is even reachable.</a:t>
            </a:r>
            <a:endParaRPr lang="en-US" sz="930" dirty="0"/>
          </a:p>
        </p:txBody>
      </p:sp>
      <p:sp>
        <p:nvSpPr>
          <p:cNvPr id="32" name="Shape 23"/>
          <p:cNvSpPr/>
          <p:nvPr/>
        </p:nvSpPr>
        <p:spPr>
          <a:xfrm>
            <a:off x="3840480" y="4251960"/>
            <a:ext cx="1645920" cy="347472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394960" y="4315968"/>
            <a:ext cx="8686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5522976" y="4398264"/>
            <a:ext cx="402336" cy="402336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5" name="Image 7" descr="/home/claude/work/icons/activity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537" y="4494825"/>
            <a:ext cx="209215" cy="20921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035040" y="43616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Diagnostics &amp; Logging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6035040" y="4608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Existing log/telemetry patterns Copilot should match, not reinvent.</a:t>
            </a:r>
            <a:endParaRPr lang="en-US" sz="930" dirty="0"/>
          </a:p>
        </p:txBody>
      </p:sp>
      <p:sp>
        <p:nvSpPr>
          <p:cNvPr id="38" name="Shape 28"/>
          <p:cNvSpPr/>
          <p:nvPr/>
        </p:nvSpPr>
        <p:spPr>
          <a:xfrm>
            <a:off x="3840480" y="4251960"/>
            <a:ext cx="1645920" cy="1024128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5394960" y="4992624"/>
            <a:ext cx="8686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5522976" y="5074920"/>
            <a:ext cx="402336" cy="402336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1" name="Image 8" descr="/home/claude/work/icons/workflow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537" y="5171481"/>
            <a:ext cx="209215" cy="20921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035040" y="50383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State Machines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6035040" y="52852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Transition tables and state-handler functions — high value, high care.</a:t>
            </a:r>
            <a:endParaRPr lang="en-US" sz="930" dirty="0"/>
          </a:p>
        </p:txBody>
      </p:sp>
      <p:sp>
        <p:nvSpPr>
          <p:cNvPr id="44" name="Shape 33"/>
          <p:cNvSpPr/>
          <p:nvPr/>
        </p:nvSpPr>
        <p:spPr>
          <a:xfrm>
            <a:off x="3840480" y="4251960"/>
            <a:ext cx="1645920" cy="1700784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5394960" y="5669280"/>
            <a:ext cx="8686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5522976" y="5751576"/>
            <a:ext cx="402336" cy="402336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7" name="Image 9" descr="/home/claude/work/icons/circuitboard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537" y="5848137"/>
            <a:ext cx="209215" cy="209215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035040" y="5715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Drivers &amp; Adapters</a:t>
            </a:r>
            <a:endParaRPr lang="en-US" sz="1150" dirty="0"/>
          </a:p>
        </p:txBody>
      </p:sp>
      <p:sp>
        <p:nvSpPr>
          <p:cNvPr id="49" name="Text 37"/>
          <p:cNvSpPr/>
          <p:nvPr/>
        </p:nvSpPr>
        <p:spPr>
          <a:xfrm>
            <a:off x="6035040" y="5961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Hardware abstraction layers where Copilot scaffolds well but verification matters most.</a:t>
            </a:r>
            <a:endParaRPr lang="en-US" sz="930" dirty="0"/>
          </a:p>
        </p:txBody>
      </p:sp>
      <p:sp>
        <p:nvSpPr>
          <p:cNvPr id="50" name="Shape 38"/>
          <p:cNvSpPr/>
          <p:nvPr/>
        </p:nvSpPr>
        <p:spPr>
          <a:xfrm>
            <a:off x="3840480" y="4251960"/>
            <a:ext cx="1645920" cy="2377440"/>
          </a:xfrm>
          <a:prstGeom prst="line">
            <a:avLst/>
          </a:prstGeom>
          <a:noFill/>
          <a:ln w="25400">
            <a:solidFill>
              <a:srgbClr val="B7B9E4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5394960" y="6345936"/>
            <a:ext cx="8686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5522976" y="6428232"/>
            <a:ext cx="402336" cy="402336"/>
          </a:xfrm>
          <a:prstGeom prst="ellipse">
            <a:avLst/>
          </a:prstGeom>
          <a:solidFill>
            <a:srgbClr val="5B5FA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53" name="Image 10" descr="/home/claude/work/icons/wrench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537" y="6524793"/>
            <a:ext cx="209215" cy="209215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6035040" y="63916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 &amp; Toolchain Files</a:t>
            </a:r>
            <a:endParaRPr lang="en-US" sz="1150" dirty="0"/>
          </a:p>
        </p:txBody>
      </p:sp>
      <p:sp>
        <p:nvSpPr>
          <p:cNvPr id="55" name="Text 42"/>
          <p:cNvSpPr/>
          <p:nvPr/>
        </p:nvSpPr>
        <p:spPr>
          <a:xfrm>
            <a:off x="6035040" y="6638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CMake / Makefile / west manifests — thin territory for Copilot's training data.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Chat, Inline Assist &amp; Code Explanation in Practice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Three everyday moves — the ones you'll reach for in nearly every session.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286000"/>
            <a:ext cx="4160520" cy="4297680"/>
          </a:xfrm>
          <a:prstGeom prst="roundRect">
            <a:avLst>
              <a:gd name="adj" fmla="val 197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217420" y="2606040"/>
            <a:ext cx="822960" cy="82296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chat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930" y="2803550"/>
            <a:ext cx="427939" cy="4279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1520" y="3566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Chat / Conversation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211580" y="4005072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16" name="Text 10"/>
          <p:cNvSpPr/>
          <p:nvPr/>
        </p:nvSpPr>
        <p:spPr>
          <a:xfrm>
            <a:off x="1211580" y="4005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Ask before you touch anything</a:t>
            </a:r>
            <a:endParaRPr lang="en-US" sz="1030" dirty="0"/>
          </a:p>
        </p:txBody>
      </p:sp>
      <p:sp>
        <p:nvSpPr>
          <p:cNvPr id="17" name="Text 11"/>
          <p:cNvSpPr/>
          <p:nvPr/>
        </p:nvSpPr>
        <p:spPr>
          <a:xfrm>
            <a:off x="822960" y="452628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“Explain how the CAN driver's retry logic handles bus-off recovery before I modify it.” Copilot reasons over the repository, not just the open file.</a:t>
            </a:r>
            <a:endParaRPr lang="en-US" sz="1180" dirty="0"/>
          </a:p>
        </p:txBody>
      </p:sp>
      <p:sp>
        <p:nvSpPr>
          <p:cNvPr id="18" name="Shape 12"/>
          <p:cNvSpPr/>
          <p:nvPr/>
        </p:nvSpPr>
        <p:spPr>
          <a:xfrm>
            <a:off x="5029200" y="2286000"/>
            <a:ext cx="4160520" cy="4297680"/>
          </a:xfrm>
          <a:prstGeom prst="roundRect">
            <a:avLst>
              <a:gd name="adj" fmla="val 197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97980" y="2606040"/>
            <a:ext cx="822960" cy="82296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0" name="Image 4" descr="/home/claude/work/icons/codexm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490" y="280355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12080" y="3566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Inline Code Assistance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692140" y="4005072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23" name="Text 16"/>
          <p:cNvSpPr/>
          <p:nvPr/>
        </p:nvSpPr>
        <p:spPr>
          <a:xfrm>
            <a:off x="5692140" y="4005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Matches your coding style</a:t>
            </a:r>
            <a:endParaRPr lang="en-US" sz="1030" dirty="0"/>
          </a:p>
        </p:txBody>
      </p:sp>
      <p:sp>
        <p:nvSpPr>
          <p:cNvPr id="24" name="Text 17"/>
          <p:cNvSpPr/>
          <p:nvPr/>
        </p:nvSpPr>
        <p:spPr>
          <a:xfrm>
            <a:off x="5303520" y="452628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Start a new diagnostic message formatter; Copilot completes it matching existing naming, error codes, and formatting conventions.</a:t>
            </a:r>
            <a:endParaRPr lang="en-US" sz="1180" dirty="0"/>
          </a:p>
        </p:txBody>
      </p:sp>
      <p:sp>
        <p:nvSpPr>
          <p:cNvPr id="25" name="Shape 18"/>
          <p:cNvSpPr/>
          <p:nvPr/>
        </p:nvSpPr>
        <p:spPr>
          <a:xfrm>
            <a:off x="9509760" y="2286000"/>
            <a:ext cx="4160520" cy="4297680"/>
          </a:xfrm>
          <a:prstGeom prst="roundRect">
            <a:avLst>
              <a:gd name="adj" fmla="val 197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1178540" y="2606040"/>
            <a:ext cx="822960" cy="82296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7" name="Image 5" descr="/home/claude/work/icons/filesearch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6050" y="2803550"/>
            <a:ext cx="427939" cy="42793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92640" y="3566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Code Explanation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172700" y="4005072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30" name="Text 22"/>
          <p:cNvSpPr/>
          <p:nvPr/>
        </p:nvSpPr>
        <p:spPr>
          <a:xfrm>
            <a:off x="10172700" y="4005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Understand before you extend</a:t>
            </a:r>
            <a:endParaRPr lang="en-US" sz="1030" dirty="0"/>
          </a:p>
        </p:txBody>
      </p:sp>
      <p:sp>
        <p:nvSpPr>
          <p:cNvPr id="31" name="Text 23"/>
          <p:cNvSpPr/>
          <p:nvPr/>
        </p:nvSpPr>
        <p:spPr>
          <a:xfrm>
            <a:off x="9784080" y="452628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Highlight an unfamiliar state-machine transition table and get a plain-language walkthrough of each branch and guard condition.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Refactor, Debug &amp; Generate Tests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Where Copilot starts doing real engineering work — always under your review.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07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286000"/>
            <a:ext cx="4160520" cy="4297680"/>
          </a:xfrm>
          <a:prstGeom prst="roundRect">
            <a:avLst>
              <a:gd name="adj" fmla="val 197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217420" y="2606040"/>
            <a:ext cx="822960" cy="822960"/>
          </a:xfrm>
          <a:prstGeom prst="ellipse">
            <a:avLst/>
          </a:prstGeom>
          <a:solidFill>
            <a:srgbClr val="1257C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3" name="Image 3" descr="/home/claude/work/icons/wan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930" y="2803550"/>
            <a:ext cx="427939" cy="4279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1520" y="3566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Refactoring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120140" y="400507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16" name="Text 10"/>
          <p:cNvSpPr/>
          <p:nvPr/>
        </p:nvSpPr>
        <p:spPr>
          <a:xfrm>
            <a:off x="1120140" y="40050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Restructure without regressing</a:t>
            </a:r>
            <a:endParaRPr lang="en-US" sz="1030" dirty="0"/>
          </a:p>
        </p:txBody>
      </p:sp>
      <p:sp>
        <p:nvSpPr>
          <p:cNvPr id="17" name="Text 11"/>
          <p:cNvSpPr/>
          <p:nvPr/>
        </p:nvSpPr>
        <p:spPr>
          <a:xfrm>
            <a:off x="822960" y="452628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Break a monolithic sensor-polling loop into named helper functions — same behaviour, readable structure, verified with existing tests.</a:t>
            </a:r>
            <a:endParaRPr lang="en-US" sz="1180" dirty="0"/>
          </a:p>
        </p:txBody>
      </p:sp>
      <p:sp>
        <p:nvSpPr>
          <p:cNvPr id="18" name="Shape 12"/>
          <p:cNvSpPr/>
          <p:nvPr/>
        </p:nvSpPr>
        <p:spPr>
          <a:xfrm>
            <a:off x="5029200" y="2286000"/>
            <a:ext cx="4160520" cy="4297680"/>
          </a:xfrm>
          <a:prstGeom prst="roundRect">
            <a:avLst>
              <a:gd name="adj" fmla="val 197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97980" y="2606040"/>
            <a:ext cx="822960" cy="822960"/>
          </a:xfrm>
          <a:prstGeom prst="ellipse">
            <a:avLst/>
          </a:prstGeom>
          <a:solidFill>
            <a:srgbClr val="1257C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0" name="Image 4" descr="/home/claude/work/icons/bu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490" y="280355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12080" y="3566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600700" y="400507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23" name="Text 16"/>
          <p:cNvSpPr/>
          <p:nvPr/>
        </p:nvSpPr>
        <p:spPr>
          <a:xfrm>
            <a:off x="5600700" y="40050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Root-cause with context</a:t>
            </a:r>
            <a:endParaRPr lang="en-US" sz="1030" dirty="0"/>
          </a:p>
        </p:txBody>
      </p:sp>
      <p:sp>
        <p:nvSpPr>
          <p:cNvPr id="24" name="Text 17"/>
          <p:cNvSpPr/>
          <p:nvPr/>
        </p:nvSpPr>
        <p:spPr>
          <a:xfrm>
            <a:off x="5303520" y="452628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Feed Copilot a failing test plus stack trace; ask for likely root cause in the driver layer before you start printf-debugging.</a:t>
            </a:r>
            <a:endParaRPr lang="en-US" sz="1180" dirty="0"/>
          </a:p>
        </p:txBody>
      </p:sp>
      <p:sp>
        <p:nvSpPr>
          <p:cNvPr id="25" name="Shape 18"/>
          <p:cNvSpPr/>
          <p:nvPr/>
        </p:nvSpPr>
        <p:spPr>
          <a:xfrm>
            <a:off x="9509760" y="2286000"/>
            <a:ext cx="4160520" cy="4297680"/>
          </a:xfrm>
          <a:prstGeom prst="roundRect">
            <a:avLst>
              <a:gd name="adj" fmla="val 1978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1178540" y="2606040"/>
            <a:ext cx="822960" cy="822960"/>
          </a:xfrm>
          <a:prstGeom prst="ellipse">
            <a:avLst/>
          </a:prstGeom>
          <a:solidFill>
            <a:srgbClr val="1257C6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7" name="Image 5" descr="/home/claude/work/icons/flas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6050" y="2803550"/>
            <a:ext cx="427939" cy="42793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92640" y="3566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Test Generation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081260" y="400507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30" name="Text 22"/>
          <p:cNvSpPr/>
          <p:nvPr/>
        </p:nvSpPr>
        <p:spPr>
          <a:xfrm>
            <a:off x="10081260" y="40050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B5FA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Cover the cases you'd skip</a:t>
            </a:r>
            <a:endParaRPr lang="en-US" sz="1030" dirty="0"/>
          </a:p>
        </p:txBody>
      </p:sp>
      <p:sp>
        <p:nvSpPr>
          <p:cNvPr id="31" name="Text 23"/>
          <p:cNvSpPr/>
          <p:nvPr/>
        </p:nvSpPr>
        <p:spPr>
          <a:xfrm>
            <a:off x="9784080" y="452628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Generate host-based unit tests for a new HAL wrapper — including the boundary and negative cases easy to forget under deadline.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Mode: Autonomous, Repository-Aware Assistance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Six steps, always ending with a human reviewing the diff — never a silent merge.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08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485900" y="3223260"/>
            <a:ext cx="11658600" cy="0"/>
          </a:xfrm>
          <a:prstGeom prst="line">
            <a:avLst/>
          </a:prstGeom>
          <a:noFill/>
          <a:ln w="38100">
            <a:solidFill>
              <a:srgbClr val="B7B9E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25146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193292" y="266090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4" name="Image 3" descr="/home/claude/work/icons/listtre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744" y="2801356"/>
            <a:ext cx="304312" cy="3043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33009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Scope the Task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569464" y="314096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17" name="Shape 11"/>
          <p:cNvSpPr/>
          <p:nvPr/>
        </p:nvSpPr>
        <p:spPr>
          <a:xfrm>
            <a:off x="502920" y="416052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429768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Give Agent Mode a specific, bounded task — not “improve the codebase.”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2880360" y="25146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525012" y="266090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1" name="Image 4" descr="/home/claude/work/icons/filesear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5464" y="2801356"/>
            <a:ext cx="304312" cy="304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880360" y="33009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Explore Repository Context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901184" y="314096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24" name="Shape 17"/>
          <p:cNvSpPr/>
          <p:nvPr/>
        </p:nvSpPr>
        <p:spPr>
          <a:xfrm>
            <a:off x="2834640" y="416052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926080" y="429768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reads source, headers, build files &amp; conventions before proposing anything.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212080" y="25146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856732" y="266090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8" name="Image 5" descr="/home/claude/work/icons/lightbulb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184" y="2801356"/>
            <a:ext cx="304312" cy="3043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12080" y="33009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Propose a Plan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7232904" y="314096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31" name="Shape 23"/>
          <p:cNvSpPr/>
          <p:nvPr/>
        </p:nvSpPr>
        <p:spPr>
          <a:xfrm>
            <a:off x="5166360" y="416052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257800" y="429768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surfaces its intended approach before making a single change.</a:t>
            </a:r>
            <a:endParaRPr lang="en-US" sz="1030" dirty="0"/>
          </a:p>
        </p:txBody>
      </p:sp>
      <p:sp>
        <p:nvSpPr>
          <p:cNvPr id="33" name="Shape 25"/>
          <p:cNvSpPr/>
          <p:nvPr/>
        </p:nvSpPr>
        <p:spPr>
          <a:xfrm>
            <a:off x="7543800" y="25146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188452" y="266090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5" name="Image 6" descr="/home/claude/work/icons/boxe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904" y="2801356"/>
            <a:ext cx="304312" cy="3043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43800" y="33009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Implement Across Files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9564624" y="314096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38" name="Shape 29"/>
          <p:cNvSpPr/>
          <p:nvPr/>
        </p:nvSpPr>
        <p:spPr>
          <a:xfrm>
            <a:off x="7498080" y="416052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429768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edits related files coherently — source, header, and test together.</a:t>
            </a:r>
            <a:endParaRPr lang="en-US" sz="1030" dirty="0"/>
          </a:p>
        </p:txBody>
      </p:sp>
      <p:sp>
        <p:nvSpPr>
          <p:cNvPr id="40" name="Shape 31"/>
          <p:cNvSpPr/>
          <p:nvPr/>
        </p:nvSpPr>
        <p:spPr>
          <a:xfrm>
            <a:off x="9875520" y="25146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0B3D7A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520172" y="266090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2" name="Image 7" descr="/home/claude/work/icons/scaney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0624" y="2801356"/>
            <a:ext cx="304312" cy="3043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875520" y="33009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Human Reviews the Diff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11896344" y="3140964"/>
            <a:ext cx="164592" cy="164592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45" name="Shape 35"/>
          <p:cNvSpPr/>
          <p:nvPr/>
        </p:nvSpPr>
        <p:spPr>
          <a:xfrm>
            <a:off x="9829800" y="416052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9921240" y="429768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Engineer inspects every change against firmware architecture &amp; standards.</a:t>
            </a:r>
            <a:endParaRPr lang="en-US" sz="1030" dirty="0"/>
          </a:p>
        </p:txBody>
      </p:sp>
      <p:sp>
        <p:nvSpPr>
          <p:cNvPr id="47" name="Shape 37"/>
          <p:cNvSpPr/>
          <p:nvPr/>
        </p:nvSpPr>
        <p:spPr>
          <a:xfrm>
            <a:off x="12207240" y="251460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1E8A5F"/>
          </a:solidFill>
          <a:ln/>
          <a:effectLst>
            <a:outerShdw sx="100000" sy="100000" kx="0" ky="0" algn="bl" rotWithShape="0" blurRad="63500" dist="25400" dir="5400000">
              <a:srgbClr val="1A1A2E">
                <a:alpha val="20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12851892" y="2660904"/>
            <a:ext cx="585216" cy="585216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9" name="Image 8" descr="/home/claude/work/icons/gitcompare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2344" y="2801356"/>
            <a:ext cx="304312" cy="304312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2207240" y="33009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Iterate or Accept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12161520" y="4160520"/>
            <a:ext cx="1965960" cy="2148840"/>
          </a:xfrm>
          <a:prstGeom prst="roundRect">
            <a:avLst>
              <a:gd name="adj" fmla="val 4186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12252960" y="4297680"/>
            <a:ext cx="1783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Refine the prompt and scope, or accept the change into the branch.</a:t>
            </a:r>
            <a:endParaRPr lang="en-US" sz="1030" dirty="0"/>
          </a:p>
        </p:txBody>
      </p:sp>
      <p:sp>
        <p:nvSpPr>
          <p:cNvPr id="53" name="Shape 42"/>
          <p:cNvSpPr/>
          <p:nvPr/>
        </p:nvSpPr>
        <p:spPr>
          <a:xfrm>
            <a:off x="548640" y="6446520"/>
            <a:ext cx="13533120" cy="777240"/>
          </a:xfrm>
          <a:prstGeom prst="roundRect">
            <a:avLst>
              <a:gd name="adj" fmla="val 10588"/>
            </a:avLst>
          </a:prstGeom>
          <a:solidFill>
            <a:srgbClr val="FBEDD8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54" name="Text 43"/>
          <p:cNvSpPr/>
          <p:nvPr/>
        </p:nvSpPr>
        <p:spPr>
          <a:xfrm>
            <a:off x="822960" y="6446520"/>
            <a:ext cx="1298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9760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Rule of thumb: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narrower the scope you hand Agent Mode, the more trustworthy the diff. “Fix the retry counter in can_driver.c” beats “improve CAN reliability”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Where Copilot Shines vs. Struggles in Embedded Code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Set your trust level by task type, not by tool reputation — the single most important slide in Module 02.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09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331720"/>
            <a:ext cx="6035040" cy="4892040"/>
          </a:xfrm>
          <a:prstGeom prst="roundRect">
            <a:avLst>
              <a:gd name="adj" fmla="val 1682"/>
            </a:avLst>
          </a:prstGeom>
          <a:solidFill>
            <a:srgbClr val="E1F1EA"/>
          </a:solidFill>
          <a:ln w="12700">
            <a:solidFill>
              <a:srgbClr val="BFE3D2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48640" y="2331720"/>
            <a:ext cx="6035040" cy="566928"/>
          </a:xfrm>
          <a:prstGeom prst="roundRect">
            <a:avLst>
              <a:gd name="adj" fmla="val 14516"/>
            </a:avLst>
          </a:prstGeom>
          <a:solidFill>
            <a:srgbClr val="1E8A5F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2331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STRONG — WELL-REPRESENTED IN TRAINING DATA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319125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5" name="Text 10"/>
          <p:cNvSpPr/>
          <p:nvPr/>
        </p:nvSpPr>
        <p:spPr>
          <a:xfrm>
            <a:off x="1051560" y="305409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Boilerplate &amp; scaffolding code — struct definitions, getters/setters, common patterns.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22960" y="401421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7" name="Text 12"/>
          <p:cNvSpPr/>
          <p:nvPr/>
        </p:nvSpPr>
        <p:spPr>
          <a:xfrm>
            <a:off x="1051560" y="387705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Driver scaffolding &amp; adapter patterns that follow conventional HAL structures.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822960" y="483717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9" name="Text 14"/>
          <p:cNvSpPr/>
          <p:nvPr/>
        </p:nvSpPr>
        <p:spPr>
          <a:xfrm>
            <a:off x="1051560" y="470001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Documentation, comments &amp; code explanation for readable, conventionally-written code.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822960" y="566013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1" name="Text 16"/>
          <p:cNvSpPr/>
          <p:nvPr/>
        </p:nvSpPr>
        <p:spPr>
          <a:xfrm>
            <a:off x="1051560" y="552297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Test generation for well-defined, narrow interfaces with clear inputs/outputs.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822960" y="6483096"/>
            <a:ext cx="100584" cy="100584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3" name="Text 18"/>
          <p:cNvSpPr/>
          <p:nvPr/>
        </p:nvSpPr>
        <p:spPr>
          <a:xfrm>
            <a:off x="1051560" y="634593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General C/C++ idioms &amp; standard library usage — the “common knowledge” of the language.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6949440" y="4480560"/>
            <a:ext cx="731520" cy="7315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5" name="Image 3" descr="/home/claude/work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05" y="4656125"/>
            <a:ext cx="380390" cy="38039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046720" y="2331720"/>
            <a:ext cx="6035040" cy="4892040"/>
          </a:xfrm>
          <a:prstGeom prst="roundRect">
            <a:avLst>
              <a:gd name="adj" fmla="val 1682"/>
            </a:avLst>
          </a:prstGeom>
          <a:solidFill>
            <a:srgbClr val="FBE7E4"/>
          </a:solidFill>
          <a:ln w="12700">
            <a:solidFill>
              <a:srgbClr val="F0C4B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46720" y="2331720"/>
            <a:ext cx="6035040" cy="566928"/>
          </a:xfrm>
          <a:prstGeom prst="roundRect">
            <a:avLst>
              <a:gd name="adj" fmla="val 14516"/>
            </a:avLst>
          </a:prstGeom>
          <a:solidFill>
            <a:srgbClr val="C0392B"/>
          </a:solidFill>
          <a:ln/>
        </p:spPr>
      </p:sp>
      <p:sp>
        <p:nvSpPr>
          <p:cNvPr id="28" name="Text 22"/>
          <p:cNvSpPr/>
          <p:nvPr/>
        </p:nvSpPr>
        <p:spPr>
          <a:xfrm>
            <a:off x="8046720" y="2331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WEAK — THIN TRAINING DATA COVERAGE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8321040" y="319125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4"/>
          <p:cNvSpPr/>
          <p:nvPr/>
        </p:nvSpPr>
        <p:spPr>
          <a:xfrm>
            <a:off x="8549640" y="305409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Closed-source vendor toolchains &amp; proprietary APIs — no public documentation to learn from.</a:t>
            </a:r>
            <a:endParaRPr lang="en-US" sz="1180" dirty="0"/>
          </a:p>
        </p:txBody>
      </p:sp>
      <p:sp>
        <p:nvSpPr>
          <p:cNvPr id="31" name="Shape 25"/>
          <p:cNvSpPr/>
          <p:nvPr/>
        </p:nvSpPr>
        <p:spPr>
          <a:xfrm>
            <a:off x="8321040" y="401421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26"/>
          <p:cNvSpPr/>
          <p:nvPr/>
        </p:nvSpPr>
        <p:spPr>
          <a:xfrm>
            <a:off x="8549640" y="387705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RTOS internals (schedulers, memory managers) at implementation depth, not surface usage.</a:t>
            </a:r>
            <a:endParaRPr lang="en-US" sz="1180" dirty="0"/>
          </a:p>
        </p:txBody>
      </p:sp>
      <p:sp>
        <p:nvSpPr>
          <p:cNvPr id="33" name="Shape 27"/>
          <p:cNvSpPr/>
          <p:nvPr/>
        </p:nvSpPr>
        <p:spPr>
          <a:xfrm>
            <a:off x="8321040" y="483717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28"/>
          <p:cNvSpPr/>
          <p:nvPr/>
        </p:nvSpPr>
        <p:spPr>
          <a:xfrm>
            <a:off x="8549640" y="470001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AUTOSAR / CAPL and other narrow, licensed embedded standards with restricted public examples.</a:t>
            </a:r>
            <a:endParaRPr lang="en-US" sz="1180" dirty="0"/>
          </a:p>
        </p:txBody>
      </p:sp>
      <p:sp>
        <p:nvSpPr>
          <p:cNvPr id="35" name="Shape 29"/>
          <p:cNvSpPr/>
          <p:nvPr/>
        </p:nvSpPr>
        <p:spPr>
          <a:xfrm>
            <a:off x="8321040" y="566013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ext 30"/>
          <p:cNvSpPr/>
          <p:nvPr/>
        </p:nvSpPr>
        <p:spPr>
          <a:xfrm>
            <a:off x="8549640" y="552297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Timing-critical &amp; interrupt-sensitive logic where correctness depends on hardware behaviour.</a:t>
            </a:r>
            <a:endParaRPr lang="en-US" sz="1180" dirty="0"/>
          </a:p>
        </p:txBody>
      </p:sp>
      <p:sp>
        <p:nvSpPr>
          <p:cNvPr id="37" name="Shape 31"/>
          <p:cNvSpPr/>
          <p:nvPr/>
        </p:nvSpPr>
        <p:spPr>
          <a:xfrm>
            <a:off x="8321040" y="6483096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2"/>
          <p:cNvSpPr/>
          <p:nvPr/>
        </p:nvSpPr>
        <p:spPr>
          <a:xfrm>
            <a:off x="8549640" y="634593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Undocumented hardware quirks, workarounds &amp; tribal knowledge baked into brownfield code.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Workflow Integration: Where Copilot Meets Your Day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same assistant, four different surfaces — each with a distinct job.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874520" y="3520440"/>
            <a:ext cx="10881360" cy="0"/>
          </a:xfrm>
          <a:prstGeom prst="line">
            <a:avLst/>
          </a:prstGeom>
          <a:noFill/>
          <a:ln w="38100">
            <a:solidFill>
              <a:srgbClr val="B7B9E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25603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2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508760" y="2816352"/>
            <a:ext cx="731520" cy="73152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4" name="Image 3" descr="/home/claude/work/icons/codexm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325" y="2991917"/>
            <a:ext cx="380390" cy="3803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Your IDE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3152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D7E0F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Chat &amp; inline assist while you write — the highest-frequency touchpoint, in-flow.</a:t>
            </a:r>
            <a:endParaRPr lang="en-US" sz="980" dirty="0"/>
          </a:p>
        </p:txBody>
      </p:sp>
      <p:sp>
        <p:nvSpPr>
          <p:cNvPr id="17" name="Shape 11"/>
          <p:cNvSpPr/>
          <p:nvPr/>
        </p:nvSpPr>
        <p:spPr>
          <a:xfrm>
            <a:off x="3596640" y="3429000"/>
            <a:ext cx="182880" cy="182880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18" name="Shape 12"/>
          <p:cNvSpPr/>
          <p:nvPr/>
        </p:nvSpPr>
        <p:spPr>
          <a:xfrm>
            <a:off x="4175760" y="25603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35880" y="2816352"/>
            <a:ext cx="731520" cy="73152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0" name="Image 4" descr="/home/claude/work/icons/github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445" y="2991917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1292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GitHub.com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3586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D7E0F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Repo-aware Q&amp;A, issue triage &amp; discussions — context without opening the IDE.</a:t>
            </a:r>
            <a:endParaRPr lang="en-US" sz="980" dirty="0"/>
          </a:p>
        </p:txBody>
      </p:sp>
      <p:sp>
        <p:nvSpPr>
          <p:cNvPr id="23" name="Shape 16"/>
          <p:cNvSpPr/>
          <p:nvPr/>
        </p:nvSpPr>
        <p:spPr>
          <a:xfrm>
            <a:off x="7223760" y="3429000"/>
            <a:ext cx="182880" cy="182880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24" name="Shape 17"/>
          <p:cNvSpPr/>
          <p:nvPr/>
        </p:nvSpPr>
        <p:spPr>
          <a:xfrm>
            <a:off x="7802880" y="25603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2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763000" y="2816352"/>
            <a:ext cx="731520" cy="73152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6" name="Image 5" descr="/home/claude/work/icons/terminal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565" y="2991917"/>
            <a:ext cx="380390" cy="38039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9400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Terminal / CLI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798576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D7E0F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Copilot in the shell for build commands, git operations &amp; toolchain invocations.</a:t>
            </a:r>
            <a:endParaRPr lang="en-US" sz="980" dirty="0"/>
          </a:p>
        </p:txBody>
      </p:sp>
      <p:sp>
        <p:nvSpPr>
          <p:cNvPr id="29" name="Shape 21"/>
          <p:cNvSpPr/>
          <p:nvPr/>
        </p:nvSpPr>
        <p:spPr>
          <a:xfrm>
            <a:off x="10850880" y="3429000"/>
            <a:ext cx="182880" cy="182880"/>
          </a:xfrm>
          <a:prstGeom prst="ellipse">
            <a:avLst/>
          </a:prstGeom>
          <a:solidFill>
            <a:srgbClr val="5B5FA6"/>
          </a:solidFill>
          <a:ln/>
        </p:spPr>
      </p:sp>
      <p:sp>
        <p:nvSpPr>
          <p:cNvPr id="30" name="Shape 22"/>
          <p:cNvSpPr/>
          <p:nvPr/>
        </p:nvSpPr>
        <p:spPr>
          <a:xfrm>
            <a:off x="11430000" y="25603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12390120" y="2816352"/>
            <a:ext cx="731520" cy="73152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2" name="Image 6" descr="/home/claude/work/icons/gitpr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5685" y="2991917"/>
            <a:ext cx="380390" cy="38039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56716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1161288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D7E0F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Code-review assistance — evidence-based comments before a human approves.</a:t>
            </a:r>
            <a:endParaRPr lang="en-US" sz="980" dirty="0"/>
          </a:p>
        </p:txBody>
      </p:sp>
      <p:sp>
        <p:nvSpPr>
          <p:cNvPr id="35" name="Shape 26"/>
          <p:cNvSpPr/>
          <p:nvPr/>
        </p:nvSpPr>
        <p:spPr>
          <a:xfrm>
            <a:off x="548640" y="4983480"/>
            <a:ext cx="13533120" cy="1417320"/>
          </a:xfrm>
          <a:prstGeom prst="roundRect">
            <a:avLst>
              <a:gd name="adj" fmla="val 5806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822960" y="5120640"/>
            <a:ext cx="1298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TODAY'S HANDS-ON PATH THROUGH ALL FOUR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822960" y="5413248"/>
            <a:ext cx="1298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Generate &amp; refactor in the IDE → ask a repo-wide question on GitHub.com → run the test suite from the terminal with Copilot's help → open a PR and let Copilot draft the first review pass before a human signs off.</a:t>
            </a:r>
            <a:endParaRPr lang="en-US" sz="12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Reusable Instructions &amp; Skills, and Safe Enterprise Usage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Making good practice repeatable across PA, IA &amp; BA — and keeping it inside the guardrails.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286000"/>
            <a:ext cx="6035040" cy="4572000"/>
          </a:xfrm>
          <a:prstGeom prst="roundRect">
            <a:avLst>
              <a:gd name="adj" fmla="val 1800"/>
            </a:avLst>
          </a:prstGeom>
          <a:solidFill>
            <a:srgbClr val="F4F6FD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48640" y="2286000"/>
            <a:ext cx="6035040" cy="566928"/>
          </a:xfrm>
          <a:prstGeom prst="roundRect">
            <a:avLst>
              <a:gd name="adj" fmla="val 14516"/>
            </a:avLst>
          </a:prstGeom>
          <a:solidFill>
            <a:srgbClr val="0B3D7A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22860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CUSTOM &amp; REUSABLE INSTRUCTIONS / SKILLS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3063240"/>
            <a:ext cx="502920" cy="5029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5" name="Image 3" descr="/home/claude/work/icons/bookope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318394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0358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Repository-level custom instructions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463040" y="33558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Encode coding standards, naming conventions &amp; HAL patterns once — Copilot applies them on every suggestion.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9" name="Image 4" descr="/home/claude/work/icons/puzz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41838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4270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Reusable skills &amp; prompt packs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463040" y="45902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Package recurring tasks — driver scaffolding, test generation for a given interface style — as shareable assets.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22960" y="5532120"/>
            <a:ext cx="502920" cy="502920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3" name="Image 5" descr="/home/claude/work/icons/us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5652821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63040" y="5504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Shared across PA / IA / BA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1463040" y="5824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One GBE's well-tuned instructions become every GBE's starting point, curated by the AI Champion network.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8046720" y="2286000"/>
            <a:ext cx="6035040" cy="4572000"/>
          </a:xfrm>
          <a:prstGeom prst="roundRect">
            <a:avLst>
              <a:gd name="adj" fmla="val 1800"/>
            </a:avLst>
          </a:prstGeom>
          <a:solidFill>
            <a:srgbClr val="FBEDD8"/>
          </a:solidFill>
          <a:ln w="12700">
            <a:solidFill>
              <a:srgbClr val="E4E4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046720" y="2286000"/>
            <a:ext cx="6035040" cy="566928"/>
          </a:xfrm>
          <a:prstGeom prst="roundRect">
            <a:avLst>
              <a:gd name="adj" fmla="val 14516"/>
            </a:avLst>
          </a:prstGeom>
          <a:solidFill>
            <a:srgbClr val="B9760A"/>
          </a:solidFill>
          <a:ln/>
        </p:spPr>
      </p:sp>
      <p:sp>
        <p:nvSpPr>
          <p:cNvPr id="28" name="Text 20"/>
          <p:cNvSpPr/>
          <p:nvPr/>
        </p:nvSpPr>
        <p:spPr>
          <a:xfrm>
            <a:off x="8046720" y="22860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SAFE ENTERPRISE USAGE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8321040" y="3063240"/>
            <a:ext cx="502920" cy="502920"/>
          </a:xfrm>
          <a:prstGeom prst="ellipse">
            <a:avLst/>
          </a:prstGeom>
          <a:solidFill>
            <a:srgbClr val="B9760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0" name="Image 6" descr="/home/claude/work/icons/shieldale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1741" y="3183941"/>
            <a:ext cx="261518" cy="26151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961120" y="30358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Approved repositories only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8961120" y="33558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Copilot Enterprise sees only what your GitHub Enterprise Cloud tier grants — confirm scope before every session.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8321040" y="4297680"/>
            <a:ext cx="502920" cy="502920"/>
          </a:xfrm>
          <a:prstGeom prst="ellipse">
            <a:avLst/>
          </a:prstGeom>
          <a:solidFill>
            <a:srgbClr val="B9760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4" name="Image 7" descr="/home/claude/work/icons/filewarning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41" y="4418381"/>
            <a:ext cx="261518" cy="26151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61120" y="4270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Never paste proprietary vendor docs elsewhere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8961120" y="45902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Closed-source toolchain manuals &amp; datasheets stay inside approved, governed tools — not public chat contexts.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8321040" y="5532120"/>
            <a:ext cx="502920" cy="502920"/>
          </a:xfrm>
          <a:prstGeom prst="ellipse">
            <a:avLst/>
          </a:prstGeom>
          <a:solidFill>
            <a:srgbClr val="B9760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8" name="Image 8" descr="/home/claude/work/icons/gitpr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1741" y="5652821"/>
            <a:ext cx="261518" cy="26151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961120" y="5504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 review is never bypassed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8961120" y="5824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Mode and inline suggestions still go through the same human review &amp; approval gate as any change.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Hands-On Lab Preview: Manual vs. AI-Assisted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Same six tasks, two ways — today's lab makes the difference measurable, not anecdotal.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12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TASK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029200" y="21945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MANUAL APPROACH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555480" y="21945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COPILOT-ASSISTED APPROACH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560320"/>
            <a:ext cx="13533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94944" y="2679192"/>
            <a:ext cx="438912" cy="438912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6" name="Image 3" descr="/home/claude/work/icons/file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83" y="2784531"/>
            <a:ext cx="228234" cy="2282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256032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Generate a new diagnostic function</a:t>
            </a:r>
            <a:endParaRPr lang="en-US" sz="1130" dirty="0"/>
          </a:p>
        </p:txBody>
      </p:sp>
      <p:sp>
        <p:nvSpPr>
          <p:cNvPr id="18" name="Text 12"/>
          <p:cNvSpPr/>
          <p:nvPr/>
        </p:nvSpPr>
        <p:spPr>
          <a:xfrm>
            <a:off x="5166360" y="256032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Write it from scratch, by hand</a:t>
            </a:r>
            <a:endParaRPr lang="en-US" sz="1030" dirty="0"/>
          </a:p>
        </p:txBody>
      </p:sp>
      <p:sp>
        <p:nvSpPr>
          <p:cNvPr id="19" name="Text 13"/>
          <p:cNvSpPr/>
          <p:nvPr/>
        </p:nvSpPr>
        <p:spPr>
          <a:xfrm>
            <a:off x="9692640" y="256032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Prompt Copilot with the existing formatter's style as context</a:t>
            </a:r>
            <a:endParaRPr lang="en-US" sz="1030" dirty="0"/>
          </a:p>
        </p:txBody>
      </p:sp>
      <p:sp>
        <p:nvSpPr>
          <p:cNvPr id="20" name="Shape 14"/>
          <p:cNvSpPr/>
          <p:nvPr/>
        </p:nvSpPr>
        <p:spPr>
          <a:xfrm>
            <a:off x="548640" y="3291840"/>
            <a:ext cx="13533120" cy="676656"/>
          </a:xfrm>
          <a:prstGeom prst="roundRect">
            <a:avLst>
              <a:gd name="adj" fmla="val 12162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94944" y="3410712"/>
            <a:ext cx="438912" cy="438912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2" name="Image 4" descr="/home/claude/work/icons/filesear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83" y="3516051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61872" y="329184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Explain an unfamiliar driver module</a:t>
            </a:r>
            <a:endParaRPr lang="en-US" sz="1130" dirty="0"/>
          </a:p>
        </p:txBody>
      </p:sp>
      <p:sp>
        <p:nvSpPr>
          <p:cNvPr id="24" name="Text 17"/>
          <p:cNvSpPr/>
          <p:nvPr/>
        </p:nvSpPr>
        <p:spPr>
          <a:xfrm>
            <a:off x="5166360" y="329184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Read source + comments end-to-end</a:t>
            </a:r>
            <a:endParaRPr lang="en-US" sz="1030" dirty="0"/>
          </a:p>
        </p:txBody>
      </p:sp>
      <p:sp>
        <p:nvSpPr>
          <p:cNvPr id="25" name="Text 18"/>
          <p:cNvSpPr/>
          <p:nvPr/>
        </p:nvSpPr>
        <p:spPr>
          <a:xfrm>
            <a:off x="9692640" y="329184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Ask Copilot Chat for a guided walkthrough, then verify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023360"/>
            <a:ext cx="13533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94944" y="4142232"/>
            <a:ext cx="438912" cy="438912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8" name="Image 5" descr="/home/claude/work/icons/wan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283" y="4247571"/>
            <a:ext cx="228234" cy="22823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61872" y="402336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Refactor the sensor-polling loop</a:t>
            </a:r>
            <a:endParaRPr lang="en-US" sz="1130" dirty="0"/>
          </a:p>
        </p:txBody>
      </p:sp>
      <p:sp>
        <p:nvSpPr>
          <p:cNvPr id="30" name="Text 22"/>
          <p:cNvSpPr/>
          <p:nvPr/>
        </p:nvSpPr>
        <p:spPr>
          <a:xfrm>
            <a:off x="5166360" y="402336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Manually extract helper functions</a:t>
            </a:r>
            <a:endParaRPr lang="en-US" sz="1030" dirty="0"/>
          </a:p>
        </p:txBody>
      </p:sp>
      <p:sp>
        <p:nvSpPr>
          <p:cNvPr id="31" name="Text 23"/>
          <p:cNvSpPr/>
          <p:nvPr/>
        </p:nvSpPr>
        <p:spPr>
          <a:xfrm>
            <a:off x="9692640" y="402336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Refactor with inline assist, diff against original behaviour</a:t>
            </a:r>
            <a:endParaRPr lang="en-US" sz="1030" dirty="0"/>
          </a:p>
        </p:txBody>
      </p:sp>
      <p:sp>
        <p:nvSpPr>
          <p:cNvPr id="32" name="Shape 24"/>
          <p:cNvSpPr/>
          <p:nvPr/>
        </p:nvSpPr>
        <p:spPr>
          <a:xfrm>
            <a:off x="548640" y="4754880"/>
            <a:ext cx="13533120" cy="676656"/>
          </a:xfrm>
          <a:prstGeom prst="roundRect">
            <a:avLst>
              <a:gd name="adj" fmla="val 12162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94944" y="4873752"/>
            <a:ext cx="438912" cy="438912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4" name="Image 6" descr="/home/claude/work/icons/bug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283" y="4979091"/>
            <a:ext cx="228234" cy="22823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61872" y="475488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Debug an injected defect</a:t>
            </a:r>
            <a:endParaRPr lang="en-US" sz="1130" dirty="0"/>
          </a:p>
        </p:txBody>
      </p:sp>
      <p:sp>
        <p:nvSpPr>
          <p:cNvPr id="36" name="Text 27"/>
          <p:cNvSpPr/>
          <p:nvPr/>
        </p:nvSpPr>
        <p:spPr>
          <a:xfrm>
            <a:off x="5166360" y="475488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Trace manually with prints/debugger</a:t>
            </a:r>
            <a:endParaRPr lang="en-US" sz="1030" dirty="0"/>
          </a:p>
        </p:txBody>
      </p:sp>
      <p:sp>
        <p:nvSpPr>
          <p:cNvPr id="37" name="Text 28"/>
          <p:cNvSpPr/>
          <p:nvPr/>
        </p:nvSpPr>
        <p:spPr>
          <a:xfrm>
            <a:off x="9692640" y="475488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Feed failing test + stack trace to Copilot Chat</a:t>
            </a:r>
            <a:endParaRPr lang="en-US" sz="1030" dirty="0"/>
          </a:p>
        </p:txBody>
      </p:sp>
      <p:sp>
        <p:nvSpPr>
          <p:cNvPr id="38" name="Shape 29"/>
          <p:cNvSpPr/>
          <p:nvPr/>
        </p:nvSpPr>
        <p:spPr>
          <a:xfrm>
            <a:off x="548640" y="5486400"/>
            <a:ext cx="13533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" y="5605272"/>
            <a:ext cx="438912" cy="438912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0" name="Image 7" descr="/home/claude/work/icons/flas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283" y="5710611"/>
            <a:ext cx="228234" cy="22823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261872" y="548640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Generate unit tests for a HAL wrapper</a:t>
            </a:r>
            <a:endParaRPr lang="en-US" sz="1130" dirty="0"/>
          </a:p>
        </p:txBody>
      </p:sp>
      <p:sp>
        <p:nvSpPr>
          <p:cNvPr id="42" name="Text 32"/>
          <p:cNvSpPr/>
          <p:nvPr/>
        </p:nvSpPr>
        <p:spPr>
          <a:xfrm>
            <a:off x="5166360" y="548640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Write boundary/negative cases by hand</a:t>
            </a:r>
            <a:endParaRPr lang="en-US" sz="1030" dirty="0"/>
          </a:p>
        </p:txBody>
      </p:sp>
      <p:sp>
        <p:nvSpPr>
          <p:cNvPr id="43" name="Text 33"/>
          <p:cNvSpPr/>
          <p:nvPr/>
        </p:nvSpPr>
        <p:spPr>
          <a:xfrm>
            <a:off x="9692640" y="548640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Generate with Copilot, then audit for gaps</a:t>
            </a:r>
            <a:endParaRPr lang="en-US" sz="1030" dirty="0"/>
          </a:p>
        </p:txBody>
      </p:sp>
      <p:sp>
        <p:nvSpPr>
          <p:cNvPr id="44" name="Shape 34"/>
          <p:cNvSpPr/>
          <p:nvPr/>
        </p:nvSpPr>
        <p:spPr>
          <a:xfrm>
            <a:off x="548640" y="6217920"/>
            <a:ext cx="13533120" cy="676656"/>
          </a:xfrm>
          <a:prstGeom prst="roundRect">
            <a:avLst>
              <a:gd name="adj" fmla="val 12162"/>
            </a:avLst>
          </a:prstGeom>
          <a:solidFill>
            <a:srgbClr val="F7F7FB"/>
          </a:solidFill>
          <a:ln w="12700">
            <a:solidFill>
              <a:srgbClr val="E4E4F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94944" y="6336792"/>
            <a:ext cx="438912" cy="438912"/>
          </a:xfrm>
          <a:prstGeom prst="ellipse">
            <a:avLst/>
          </a:prstGeom>
          <a:solidFill>
            <a:srgbClr val="0B3D7A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46" name="Image 8" descr="/home/claude/work/icons/bo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283" y="6442131"/>
            <a:ext cx="228234" cy="22823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261872" y="621792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Multi-file repository task</a:t>
            </a:r>
            <a:endParaRPr lang="en-US" sz="1130" dirty="0"/>
          </a:p>
        </p:txBody>
      </p:sp>
      <p:sp>
        <p:nvSpPr>
          <p:cNvPr id="48" name="Text 37"/>
          <p:cNvSpPr/>
          <p:nvPr/>
        </p:nvSpPr>
        <p:spPr>
          <a:xfrm>
            <a:off x="5166360" y="621792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Not attempted solo in this timebox</a:t>
            </a:r>
            <a:endParaRPr lang="en-US" sz="1030" dirty="0"/>
          </a:p>
        </p:txBody>
      </p:sp>
      <p:sp>
        <p:nvSpPr>
          <p:cNvPr id="49" name="Text 38"/>
          <p:cNvSpPr/>
          <p:nvPr/>
        </p:nvSpPr>
        <p:spPr>
          <a:xfrm>
            <a:off x="9692640" y="621792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Scope it for Agent Mode and supervise the diff</a:t>
            </a:r>
            <a:endParaRPr lang="en-US" sz="10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896112"/>
            <a:ext cx="14630400" cy="646480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560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CHAMPIONS PROGRAMME  |  MODULE 02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8640" y="1060704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B3D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02 Outcomes &amp; What's Next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548640" y="1700784"/>
            <a:ext cx="135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B5B5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Everything below should be true before we recap prompting and add context engineering in Module 03.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35040" y="769924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HONEYWELL EMBEDDED ENGINEERING • AI CHAMPIONS PROGRAMME — MODULE 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121640" y="7452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13 / 14</a:t>
            </a:r>
            <a:endParaRPr lang="en-US" sz="1050" dirty="0"/>
          </a:p>
        </p:txBody>
      </p:sp>
      <p:pic>
        <p:nvPicPr>
          <p:cNvPr id="10" name="Image 2" descr="/home/claude/work/nii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0" y="7479792"/>
            <a:ext cx="603504" cy="34930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2" name="Image 3" descr="/home/claude/work/icons/badge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2295510"/>
            <a:ext cx="218724" cy="2187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2167128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five capability clusters used hands-on: chat, code quality, autonomous mode, workflow, reuse</a:t>
            </a:r>
            <a:endParaRPr lang="en-US" sz="1160" dirty="0"/>
          </a:p>
        </p:txBody>
      </p:sp>
      <p:sp>
        <p:nvSpPr>
          <p:cNvPr id="14" name="Shape 8"/>
          <p:cNvSpPr/>
          <p:nvPr/>
        </p:nvSpPr>
        <p:spPr>
          <a:xfrm>
            <a:off x="7498080" y="2194560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5" name="Image 4" descr="/home/claude/work/icons/badge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030" y="2295510"/>
            <a:ext cx="218724" cy="2187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65008" y="2167128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Comfortable generating, explaining, and refactoring inside a real C/C++ embedded repository</a:t>
            </a:r>
            <a:endParaRPr lang="en-US" sz="1160" dirty="0"/>
          </a:p>
        </p:txBody>
      </p:sp>
      <p:sp>
        <p:nvSpPr>
          <p:cNvPr id="17" name="Shape 10"/>
          <p:cNvSpPr/>
          <p:nvPr/>
        </p:nvSpPr>
        <p:spPr>
          <a:xfrm>
            <a:off x="548640" y="2907792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18" name="Image 5" descr="/home/claude/work/icons/badge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3008742"/>
            <a:ext cx="218724" cy="21872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15568" y="2880360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Debugged a live defect and generated host-based unit tests with Copilot's help</a:t>
            </a:r>
            <a:endParaRPr lang="en-US" sz="1160" dirty="0"/>
          </a:p>
        </p:txBody>
      </p:sp>
      <p:sp>
        <p:nvSpPr>
          <p:cNvPr id="20" name="Shape 12"/>
          <p:cNvSpPr/>
          <p:nvPr/>
        </p:nvSpPr>
        <p:spPr>
          <a:xfrm>
            <a:off x="7498080" y="2907792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1" name="Image 6" descr="/home/claude/work/icons/badge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9030" y="3008742"/>
            <a:ext cx="218724" cy="2187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065008" y="2880360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Ran Agent Mode on a scoped repository task and reviewed the resulting diff</a:t>
            </a:r>
            <a:endParaRPr lang="en-US" sz="1160" dirty="0"/>
          </a:p>
        </p:txBody>
      </p:sp>
      <p:sp>
        <p:nvSpPr>
          <p:cNvPr id="23" name="Shape 14"/>
          <p:cNvSpPr/>
          <p:nvPr/>
        </p:nvSpPr>
        <p:spPr>
          <a:xfrm>
            <a:off x="548640" y="3621024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4" name="Image 7" descr="/home/claude/work/icons/badge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590" y="3721974"/>
            <a:ext cx="218724" cy="21872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115568" y="3593592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Can name where Copilot is strong (boilerplate, docs, scaffolding) vs. weak (RTOS internals, closed toolchains)</a:t>
            </a:r>
            <a:endParaRPr lang="en-US" sz="1160" dirty="0"/>
          </a:p>
        </p:txBody>
      </p:sp>
      <p:sp>
        <p:nvSpPr>
          <p:cNvPr id="26" name="Shape 16"/>
          <p:cNvSpPr/>
          <p:nvPr/>
        </p:nvSpPr>
        <p:spPr>
          <a:xfrm>
            <a:off x="7498080" y="3621024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27" name="Image 8" descr="/home/claude/work/icons/badgecheck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9030" y="3721974"/>
            <a:ext cx="218724" cy="21872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065008" y="3593592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Know all four workflow touchpoints: IDE, GitHub.com, terminal/CLI, and PR review</a:t>
            </a:r>
            <a:endParaRPr lang="en-US" sz="1160" dirty="0"/>
          </a:p>
        </p:txBody>
      </p:sp>
      <p:sp>
        <p:nvSpPr>
          <p:cNvPr id="29" name="Shape 18"/>
          <p:cNvSpPr/>
          <p:nvPr/>
        </p:nvSpPr>
        <p:spPr>
          <a:xfrm>
            <a:off x="548640" y="4334256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0" name="Image 9" descr="/home/claude/work/icons/badgecheck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590" y="4435206"/>
            <a:ext cx="218724" cy="21872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115568" y="4306824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Understand reusable instructions/skills and the safe-usage guardrails for approved repositories</a:t>
            </a:r>
            <a:endParaRPr lang="en-US" sz="1160" dirty="0"/>
          </a:p>
        </p:txBody>
      </p:sp>
      <p:sp>
        <p:nvSpPr>
          <p:cNvPr id="32" name="Shape 20"/>
          <p:cNvSpPr/>
          <p:nvPr/>
        </p:nvSpPr>
        <p:spPr>
          <a:xfrm>
            <a:off x="7498080" y="4334256"/>
            <a:ext cx="420624" cy="420624"/>
          </a:xfrm>
          <a:prstGeom prst="ellipse">
            <a:avLst/>
          </a:prstGeom>
          <a:solidFill>
            <a:srgbClr val="1E8A5F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3" name="Image 10" descr="/home/claude/work/icons/badgecheck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9030" y="4435206"/>
            <a:ext cx="218724" cy="21872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065008" y="4306824"/>
            <a:ext cx="6016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27252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Captured a manual-vs-AI-assisted comparison to carry into the ROI conversation in Module 10</a:t>
            </a:r>
            <a:endParaRPr lang="en-US" sz="1160" dirty="0"/>
          </a:p>
        </p:txBody>
      </p:sp>
      <p:sp>
        <p:nvSpPr>
          <p:cNvPr id="35" name="Shape 22"/>
          <p:cNvSpPr/>
          <p:nvPr/>
        </p:nvSpPr>
        <p:spPr>
          <a:xfrm>
            <a:off x="548640" y="5276088"/>
            <a:ext cx="13533120" cy="1051560"/>
          </a:xfrm>
          <a:prstGeom prst="roundRect">
            <a:avLst>
              <a:gd name="adj" fmla="val 7826"/>
            </a:avLst>
          </a:prstGeom>
          <a:solidFill>
            <a:srgbClr val="0B3D7A"/>
          </a:solidFill>
          <a:ln/>
        </p:spPr>
      </p:sp>
      <p:sp>
        <p:nvSpPr>
          <p:cNvPr id="36" name="Shape 23"/>
          <p:cNvSpPr/>
          <p:nvPr/>
        </p:nvSpPr>
        <p:spPr>
          <a:xfrm>
            <a:off x="822960" y="5477256"/>
            <a:ext cx="640080" cy="640080"/>
          </a:xfrm>
          <a:prstGeom prst="ellipse">
            <a:avLst/>
          </a:prstGeom>
          <a:solidFill>
            <a:srgbClr val="F15719"/>
          </a:solidFill>
          <a:ln/>
          <a:effectLst>
            <a:outerShdw sx="100000" sy="100000" kx="0" ky="0" algn="bl" rotWithShape="0" blurRad="76200" dist="25400" dir="5400000">
              <a:srgbClr val="1A1A2E">
                <a:alpha val="18000"/>
              </a:srgbClr>
            </a:outerShdw>
          </a:effectLst>
        </p:spPr>
      </p:sp>
      <p:pic>
        <p:nvPicPr>
          <p:cNvPr id="37" name="Image 11" descr="/home/claude/work/icons/rocket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579" y="5630875"/>
            <a:ext cx="332842" cy="33284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1691640" y="5422392"/>
            <a:ext cx="1211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NEXT — MODULE 03: PROMPT ENGINEERING RECAP AND CONTEXT ENGINEERING</a:t>
            </a:r>
            <a:endParaRPr lang="en-US" sz="1350" dirty="0"/>
          </a:p>
        </p:txBody>
      </p:sp>
      <p:sp>
        <p:nvSpPr>
          <p:cNvPr id="39" name="Text 25"/>
          <p:cNvSpPr/>
          <p:nvPr/>
        </p:nvSpPr>
        <p:spPr>
          <a:xfrm>
            <a:off x="1691640" y="5806440"/>
            <a:ext cx="1211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0F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 hours · From prompt-only context to structured repository &amp; design context — comparing output quality, token usage and iteration count.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/home/claude/work/starou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01168"/>
            <a:ext cx="2514600" cy="5010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91840"/>
            <a:ext cx="1353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548640" y="416052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CF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Module 02 — GitHub Copilot Enterprise Features for Embedded Engineering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48640" y="7223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F5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NIIT StackRoute × RPS Programme Design  |  Stalwart Learning Delivery  |  Honeywell Embedded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2026-08-24T11:21:36Z</dcterms:created>
  <dcterms:modified xsi:type="dcterms:W3CDTF">2026-08-24T11:21:36Z</dcterms:modified>
</cp:coreProperties>
</file>